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30" d="100"/>
          <a:sy n="130" d="100"/>
        </p:scale>
        <p:origin x="82" y="-46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Training Accuracy</c:v>
                </c:pt>
              </c:strCache>
            </c:strRef>
          </c:tx>
          <c:spPr>
            <a:ln w="38100" cap="flat">
              <a:solidFill>
                <a:srgbClr val="2F3C7E"/>
              </a:solidFill>
              <a:prstDash val="solid"/>
              <a:round/>
            </a:ln>
            <a:effectLst/>
          </c:spPr>
          <c:marker>
            <c:symbol val="circle"/>
            <c:size val="6"/>
            <c:spPr>
              <a:solidFill>
                <a:srgbClr val="2F3C7E"/>
              </a:solidFill>
              <a:ln w="9525" cap="flat">
                <a:solidFill>
                  <a:srgbClr val="2F3C7E"/>
                </a:solidFill>
                <a:prstDash val="solid"/>
                <a:round/>
              </a:ln>
              <a:effectLst/>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0.2344</c:v>
                </c:pt>
                <c:pt idx="1">
                  <c:v>0.33589999999999998</c:v>
                </c:pt>
                <c:pt idx="2">
                  <c:v>0.37109999999999999</c:v>
                </c:pt>
                <c:pt idx="3">
                  <c:v>0.48049999999999998</c:v>
                </c:pt>
                <c:pt idx="4">
                  <c:v>0.60160000000000002</c:v>
                </c:pt>
                <c:pt idx="5">
                  <c:v>0.60550000000000004</c:v>
                </c:pt>
                <c:pt idx="6">
                  <c:v>0.72270000000000001</c:v>
                </c:pt>
                <c:pt idx="7">
                  <c:v>0.75780000000000003</c:v>
                </c:pt>
                <c:pt idx="8">
                  <c:v>0.82420000000000004</c:v>
                </c:pt>
                <c:pt idx="9">
                  <c:v>0.92579999999999996</c:v>
                </c:pt>
              </c:numCache>
            </c:numRef>
          </c:val>
          <c:smooth val="1"/>
          <c:extLst>
            <c:ext xmlns:c16="http://schemas.microsoft.com/office/drawing/2014/chart" uri="{C3380CC4-5D6E-409C-BE32-E72D297353CC}">
              <c16:uniqueId val="{00000000-7027-450E-A03F-66388C498760}"/>
            </c:ext>
          </c:extLst>
        </c:ser>
        <c:ser>
          <c:idx val="1"/>
          <c:order val="1"/>
          <c:tx>
            <c:strRef>
              <c:f>Sheet1!$C$1</c:f>
              <c:strCache>
                <c:ptCount val="1"/>
                <c:pt idx="0">
                  <c:v>Validation Accuracy</c:v>
                </c:pt>
              </c:strCache>
            </c:strRef>
          </c:tx>
          <c:spPr>
            <a:ln w="38100" cap="flat">
              <a:solidFill>
                <a:srgbClr val="F96167"/>
              </a:solidFill>
              <a:prstDash val="solid"/>
              <a:round/>
            </a:ln>
            <a:effectLst/>
          </c:spPr>
          <c:marker>
            <c:symbol val="circle"/>
            <c:size val="6"/>
            <c:spPr>
              <a:solidFill>
                <a:srgbClr val="F96167"/>
              </a:solidFill>
              <a:ln w="9525" cap="flat">
                <a:solidFill>
                  <a:srgbClr val="F96167"/>
                </a:solidFill>
                <a:prstDash val="solid"/>
                <a:round/>
              </a:ln>
              <a:effectLst/>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0.18179999999999999</c:v>
                </c:pt>
                <c:pt idx="1">
                  <c:v>0.52270000000000005</c:v>
                </c:pt>
                <c:pt idx="2">
                  <c:v>0.34089999999999998</c:v>
                </c:pt>
                <c:pt idx="3">
                  <c:v>0.56820000000000004</c:v>
                </c:pt>
                <c:pt idx="4">
                  <c:v>0.65910000000000002</c:v>
                </c:pt>
                <c:pt idx="5">
                  <c:v>0.59089999999999998</c:v>
                </c:pt>
                <c:pt idx="6">
                  <c:v>0.59089999999999998</c:v>
                </c:pt>
                <c:pt idx="7">
                  <c:v>0.70450000000000002</c:v>
                </c:pt>
                <c:pt idx="8">
                  <c:v>0.88639999999999997</c:v>
                </c:pt>
                <c:pt idx="9">
                  <c:v>0.97729999999999995</c:v>
                </c:pt>
              </c:numCache>
            </c:numRef>
          </c:val>
          <c:smooth val="1"/>
          <c:extLst>
            <c:ext xmlns:c16="http://schemas.microsoft.com/office/drawing/2014/chart" uri="{C3380CC4-5D6E-409C-BE32-E72D297353CC}">
              <c16:uniqueId val="{00000001-7027-450E-A03F-66388C49876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000000"/>
                    </a:solidFill>
                    <a:latin typeface="Arial"/>
                  </a:defRPr>
                </a:pPr>
                <a:r>
                  <a:rPr lang="en-ID" sz="1100" b="0" i="0" u="none" strike="noStrike" dirty="0">
                    <a:solidFill>
                      <a:srgbClr val="000000"/>
                    </a:solidFill>
                    <a:latin typeface="Arial"/>
                  </a:rPr>
                  <a:t>Epoch</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2E8F0"/>
              </a:solidFill>
              <a:prstDash val="solid"/>
              <a:round/>
            </a:ln>
          </c:spPr>
        </c:majorGridlines>
        <c:title>
          <c:tx>
            <c:rich>
              <a:bodyPr/>
              <a:lstStyle/>
              <a:p>
                <a:pPr>
                  <a:defRPr sz="1100" b="0" i="0" u="none" strike="noStrike">
                    <a:solidFill>
                      <a:srgbClr val="000000"/>
                    </a:solidFill>
                    <a:latin typeface="Arial"/>
                  </a:defRPr>
                </a:pPr>
                <a:r>
                  <a:rPr lang="en-ID" sz="1100" b="0" i="0" u="none" strike="noStrike">
                    <a:solidFill>
                      <a:srgbClr val="000000"/>
                    </a:solidFill>
                    <a:latin typeface="Arial"/>
                  </a:rPr>
                  <a:t>Akurasi</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Training Loss</c:v>
                </c:pt>
              </c:strCache>
            </c:strRef>
          </c:tx>
          <c:spPr>
            <a:ln w="38100" cap="flat">
              <a:solidFill>
                <a:srgbClr val="2F3C7E"/>
              </a:solidFill>
              <a:prstDash val="solid"/>
              <a:round/>
            </a:ln>
            <a:effectLst/>
          </c:spPr>
          <c:marker>
            <c:symbol val="circle"/>
            <c:size val="6"/>
            <c:spPr>
              <a:solidFill>
                <a:srgbClr val="2F3C7E"/>
              </a:solidFill>
              <a:ln w="9525" cap="flat">
                <a:solidFill>
                  <a:srgbClr val="2F3C7E"/>
                </a:solidFill>
                <a:prstDash val="solid"/>
                <a:round/>
              </a:ln>
              <a:effectLst/>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Sheet1!$B$2:$B$11</c:f>
              <c:numCache>
                <c:formatCode>General</c:formatCode>
                <c:ptCount val="10"/>
                <c:pt idx="0">
                  <c:v>2.3174000000000001</c:v>
                </c:pt>
                <c:pt idx="1">
                  <c:v>1.3714</c:v>
                </c:pt>
                <c:pt idx="2">
                  <c:v>1.3154999999999999</c:v>
                </c:pt>
                <c:pt idx="3">
                  <c:v>1.1509</c:v>
                </c:pt>
                <c:pt idx="4">
                  <c:v>1.0416000000000001</c:v>
                </c:pt>
                <c:pt idx="5">
                  <c:v>0.96309999999999996</c:v>
                </c:pt>
                <c:pt idx="6">
                  <c:v>0.71130000000000004</c:v>
                </c:pt>
                <c:pt idx="7">
                  <c:v>0.69440000000000002</c:v>
                </c:pt>
                <c:pt idx="8">
                  <c:v>0.52690000000000003</c:v>
                </c:pt>
                <c:pt idx="9">
                  <c:v>0.2712</c:v>
                </c:pt>
              </c:numCache>
            </c:numRef>
          </c:val>
          <c:smooth val="1"/>
          <c:extLst>
            <c:ext xmlns:c16="http://schemas.microsoft.com/office/drawing/2014/chart" uri="{C3380CC4-5D6E-409C-BE32-E72D297353CC}">
              <c16:uniqueId val="{00000000-E8CB-4FBF-B9BF-FCC0BC68E9B2}"/>
            </c:ext>
          </c:extLst>
        </c:ser>
        <c:ser>
          <c:idx val="1"/>
          <c:order val="1"/>
          <c:tx>
            <c:strRef>
              <c:f>Sheet1!$C$1</c:f>
              <c:strCache>
                <c:ptCount val="1"/>
                <c:pt idx="0">
                  <c:v>Validation Loss</c:v>
                </c:pt>
              </c:strCache>
            </c:strRef>
          </c:tx>
          <c:spPr>
            <a:ln w="38100" cap="flat">
              <a:solidFill>
                <a:srgbClr val="F96167"/>
              </a:solidFill>
              <a:prstDash val="solid"/>
              <a:round/>
            </a:ln>
            <a:effectLst/>
          </c:spPr>
          <c:marker>
            <c:symbol val="circle"/>
            <c:size val="6"/>
            <c:spPr>
              <a:solidFill>
                <a:srgbClr val="F96167"/>
              </a:solidFill>
              <a:ln w="9525" cap="flat">
                <a:solidFill>
                  <a:srgbClr val="F96167"/>
                </a:solidFill>
                <a:prstDash val="solid"/>
                <a:round/>
              </a:ln>
              <a:effectLst/>
            </c:spPr>
          </c:marker>
          <c:cat>
            <c:strRef>
              <c:f>Sheet1!$A$2:$A$11</c:f>
              <c:strCache>
                <c:ptCount val="10"/>
                <c:pt idx="0">
                  <c:v>1</c:v>
                </c:pt>
                <c:pt idx="1">
                  <c:v>2</c:v>
                </c:pt>
                <c:pt idx="2">
                  <c:v>3</c:v>
                </c:pt>
                <c:pt idx="3">
                  <c:v>4</c:v>
                </c:pt>
                <c:pt idx="4">
                  <c:v>5</c:v>
                </c:pt>
                <c:pt idx="5">
                  <c:v>6</c:v>
                </c:pt>
                <c:pt idx="6">
                  <c:v>7</c:v>
                </c:pt>
                <c:pt idx="7">
                  <c:v>8</c:v>
                </c:pt>
                <c:pt idx="8">
                  <c:v>9</c:v>
                </c:pt>
                <c:pt idx="9">
                  <c:v>10</c:v>
                </c:pt>
              </c:strCache>
            </c:strRef>
          </c:cat>
          <c:val>
            <c:numRef>
              <c:f>Sheet1!$C$2:$C$11</c:f>
              <c:numCache>
                <c:formatCode>General</c:formatCode>
                <c:ptCount val="10"/>
                <c:pt idx="0">
                  <c:v>1.3883000000000001</c:v>
                </c:pt>
                <c:pt idx="1">
                  <c:v>1.3039000000000001</c:v>
                </c:pt>
                <c:pt idx="2">
                  <c:v>1.2578</c:v>
                </c:pt>
                <c:pt idx="3">
                  <c:v>1.121</c:v>
                </c:pt>
                <c:pt idx="4">
                  <c:v>0.88590000000000002</c:v>
                </c:pt>
                <c:pt idx="5">
                  <c:v>0.89090000000000003</c:v>
                </c:pt>
                <c:pt idx="6">
                  <c:v>1.1355</c:v>
                </c:pt>
                <c:pt idx="7">
                  <c:v>0.65610000000000002</c:v>
                </c:pt>
                <c:pt idx="8">
                  <c:v>0.33960000000000001</c:v>
                </c:pt>
                <c:pt idx="9">
                  <c:v>0.18990000000000001</c:v>
                </c:pt>
              </c:numCache>
            </c:numRef>
          </c:val>
          <c:smooth val="1"/>
          <c:extLst>
            <c:ext xmlns:c16="http://schemas.microsoft.com/office/drawing/2014/chart" uri="{C3380CC4-5D6E-409C-BE32-E72D297353CC}">
              <c16:uniqueId val="{00000001-E8CB-4FBF-B9BF-FCC0BC68E9B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000000"/>
                    </a:solidFill>
                    <a:latin typeface="Arial"/>
                  </a:defRPr>
                </a:pPr>
                <a:r>
                  <a:rPr lang="en-ID" sz="1100" b="0" i="0" u="none" strike="noStrike">
                    <a:solidFill>
                      <a:srgbClr val="000000"/>
                    </a:solidFill>
                    <a:latin typeface="Arial"/>
                  </a:rPr>
                  <a:t>Epoch</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2.5"/>
          <c:min val="0"/>
        </c:scaling>
        <c:delete val="0"/>
        <c:axPos val="l"/>
        <c:majorGridlines>
          <c:spPr>
            <a:ln w="6350" cap="flat">
              <a:solidFill>
                <a:srgbClr val="E2E8F0"/>
              </a:solidFill>
              <a:prstDash val="solid"/>
              <a:round/>
            </a:ln>
          </c:spPr>
        </c:majorGridlines>
        <c:title>
          <c:tx>
            <c:rich>
              <a:bodyPr/>
              <a:lstStyle/>
              <a:p>
                <a:pPr>
                  <a:defRPr sz="1100" b="0" i="0" u="none" strike="noStrike">
                    <a:solidFill>
                      <a:srgbClr val="000000"/>
                    </a:solidFill>
                    <a:latin typeface="Arial"/>
                  </a:defRPr>
                </a:pPr>
                <a:r>
                  <a:rPr lang="en-ID" sz="1100" b="0" i="0" u="none" strike="noStrike">
                    <a:solidFill>
                      <a:srgbClr val="000000"/>
                    </a:solidFill>
                    <a:latin typeface="Arial"/>
                  </a:rPr>
                  <a:t>Loss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3476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F3C7E"/>
        </a:solidFill>
        <a:effectLst/>
      </p:bgPr>
    </p:bg>
    <p:spTree>
      <p:nvGrpSpPr>
        <p:cNvPr id="1" name=""/>
        <p:cNvGrpSpPr/>
        <p:nvPr/>
      </p:nvGrpSpPr>
      <p:grpSpPr>
        <a:xfrm>
          <a:off x="0" y="0"/>
          <a:ext cx="0" cy="0"/>
          <a:chOff x="0" y="0"/>
          <a:chExt cx="0" cy="0"/>
        </a:xfrm>
      </p:grpSpPr>
      <p:sp>
        <p:nvSpPr>
          <p:cNvPr id="2" name="Text 0"/>
          <p:cNvSpPr/>
          <p:nvPr/>
        </p:nvSpPr>
        <p:spPr>
          <a:xfrm>
            <a:off x="640080" y="1143000"/>
            <a:ext cx="7863840" cy="1097280"/>
          </a:xfrm>
          <a:prstGeom prst="rect">
            <a:avLst/>
          </a:prstGeom>
          <a:noFill/>
          <a:ln/>
        </p:spPr>
        <p:txBody>
          <a:bodyPr wrap="square"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Klasifikasi Gambar Alat Tulis</a:t>
            </a:r>
            <a:endParaRPr lang="en-US" sz="4000" dirty="0"/>
          </a:p>
        </p:txBody>
      </p:sp>
      <p:sp>
        <p:nvSpPr>
          <p:cNvPr id="3" name="Text 1"/>
          <p:cNvSpPr/>
          <p:nvPr/>
        </p:nvSpPr>
        <p:spPr>
          <a:xfrm>
            <a:off x="640080" y="2148840"/>
            <a:ext cx="7863840" cy="457200"/>
          </a:xfrm>
          <a:prstGeom prst="rect">
            <a:avLst/>
          </a:prstGeom>
          <a:noFill/>
          <a:ln/>
        </p:spPr>
        <p:txBody>
          <a:bodyPr wrap="square" rtlCol="0" anchor="ctr"/>
          <a:lstStyle/>
          <a:p>
            <a:pPr marL="0" indent="0">
              <a:buNone/>
            </a:pPr>
            <a:r>
              <a:rPr lang="en-US" sz="2000" i="1" dirty="0">
                <a:solidFill>
                  <a:srgbClr val="F4B942"/>
                </a:solidFill>
                <a:latin typeface="Cambria" pitchFamily="34" charset="0"/>
                <a:ea typeface="Cambria" pitchFamily="34" charset="-122"/>
                <a:cs typeface="Cambria" pitchFamily="34" charset="-120"/>
              </a:rPr>
              <a:t>Menggunakan Convolutional Neural Network (CNN)</a:t>
            </a:r>
            <a:endParaRPr lang="en-US" sz="2000" dirty="0"/>
          </a:p>
        </p:txBody>
      </p:sp>
      <p:sp>
        <p:nvSpPr>
          <p:cNvPr id="4" name="Text 2"/>
          <p:cNvSpPr/>
          <p:nvPr/>
        </p:nvSpPr>
        <p:spPr>
          <a:xfrm>
            <a:off x="640080" y="2697480"/>
            <a:ext cx="7863840" cy="45720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UAS </a:t>
            </a:r>
            <a:r>
              <a:rPr lang="en-US" sz="1300" dirty="0" err="1">
                <a:solidFill>
                  <a:srgbClr val="CADCFC"/>
                </a:solidFill>
                <a:latin typeface="Calibri" pitchFamily="34" charset="0"/>
                <a:ea typeface="Calibri" pitchFamily="34" charset="-122"/>
                <a:cs typeface="Calibri" pitchFamily="34" charset="-120"/>
              </a:rPr>
              <a:t>Kecerdasan</a:t>
            </a:r>
            <a:r>
              <a:rPr lang="en-US" sz="1300" dirty="0">
                <a:solidFill>
                  <a:srgbClr val="CADCFC"/>
                </a:solidFill>
                <a:latin typeface="Calibri" pitchFamily="34" charset="0"/>
                <a:ea typeface="Calibri" pitchFamily="34" charset="-122"/>
                <a:cs typeface="Calibri" pitchFamily="34" charset="-120"/>
              </a:rPr>
              <a:t> </a:t>
            </a:r>
            <a:r>
              <a:rPr lang="en-US" sz="1300" dirty="0" err="1">
                <a:solidFill>
                  <a:srgbClr val="CADCFC"/>
                </a:solidFill>
                <a:latin typeface="Calibri" pitchFamily="34" charset="0"/>
                <a:ea typeface="Calibri" pitchFamily="34" charset="-122"/>
                <a:cs typeface="Calibri" pitchFamily="34" charset="-120"/>
              </a:rPr>
              <a:t>Buatan</a:t>
            </a:r>
            <a:r>
              <a:rPr lang="en-US" sz="1300" dirty="0">
                <a:solidFill>
                  <a:srgbClr val="CADCFC"/>
                </a:solidFill>
                <a:latin typeface="Calibri" pitchFamily="34" charset="0"/>
                <a:ea typeface="Calibri" pitchFamily="34" charset="-122"/>
                <a:cs typeface="Calibri" pitchFamily="34" charset="-120"/>
              </a:rPr>
              <a:t> </a:t>
            </a:r>
            <a:endParaRPr lang="en-US" sz="1300" dirty="0"/>
          </a:p>
        </p:txBody>
      </p:sp>
      <p:sp>
        <p:nvSpPr>
          <p:cNvPr id="5" name="Shape 3"/>
          <p:cNvSpPr/>
          <p:nvPr/>
        </p:nvSpPr>
        <p:spPr>
          <a:xfrm>
            <a:off x="640080" y="3794760"/>
            <a:ext cx="685800" cy="685800"/>
          </a:xfrm>
          <a:prstGeom prst="ellipse">
            <a:avLst/>
          </a:prstGeom>
          <a:solidFill>
            <a:srgbClr val="F4B942"/>
          </a:solidFill>
          <a:ln/>
        </p:spPr>
      </p:sp>
      <p:pic>
        <p:nvPicPr>
          <p:cNvPr id="6" name="Image 0" descr="preencoded.png"/>
          <p:cNvPicPr>
            <a:picLocks noChangeAspect="1"/>
          </p:cNvPicPr>
          <p:nvPr/>
        </p:nvPicPr>
        <p:blipFill>
          <a:blip r:embed="rId3"/>
          <a:stretch>
            <a:fillRect/>
          </a:stretch>
        </p:blipFill>
        <p:spPr>
          <a:xfrm>
            <a:off x="811530" y="3966210"/>
            <a:ext cx="342900" cy="342900"/>
          </a:xfrm>
          <a:prstGeom prst="rect">
            <a:avLst/>
          </a:prstGeom>
        </p:spPr>
      </p:pic>
      <p:sp>
        <p:nvSpPr>
          <p:cNvPr id="7" name="Shape 4"/>
          <p:cNvSpPr/>
          <p:nvPr/>
        </p:nvSpPr>
        <p:spPr>
          <a:xfrm>
            <a:off x="1691640" y="3794760"/>
            <a:ext cx="685800" cy="685800"/>
          </a:xfrm>
          <a:prstGeom prst="ellipse">
            <a:avLst/>
          </a:prstGeom>
          <a:solidFill>
            <a:srgbClr val="F4B942"/>
          </a:solidFill>
          <a:ln/>
        </p:spPr>
      </p:sp>
      <p:pic>
        <p:nvPicPr>
          <p:cNvPr id="8" name="Image 1" descr="preencoded.png"/>
          <p:cNvPicPr>
            <a:picLocks noChangeAspect="1"/>
          </p:cNvPicPr>
          <p:nvPr/>
        </p:nvPicPr>
        <p:blipFill>
          <a:blip r:embed="rId4"/>
          <a:stretch>
            <a:fillRect/>
          </a:stretch>
        </p:blipFill>
        <p:spPr>
          <a:xfrm>
            <a:off x="1863090" y="3966210"/>
            <a:ext cx="342900" cy="342900"/>
          </a:xfrm>
          <a:prstGeom prst="rect">
            <a:avLst/>
          </a:prstGeom>
        </p:spPr>
      </p:pic>
      <p:sp>
        <p:nvSpPr>
          <p:cNvPr id="9" name="Shape 5"/>
          <p:cNvSpPr/>
          <p:nvPr/>
        </p:nvSpPr>
        <p:spPr>
          <a:xfrm>
            <a:off x="2743200" y="3794760"/>
            <a:ext cx="685800" cy="685800"/>
          </a:xfrm>
          <a:prstGeom prst="ellipse">
            <a:avLst/>
          </a:prstGeom>
          <a:solidFill>
            <a:srgbClr val="F4B942"/>
          </a:solidFill>
          <a:ln/>
        </p:spPr>
      </p:sp>
      <p:pic>
        <p:nvPicPr>
          <p:cNvPr id="10" name="Image 2" descr="preencoded.png"/>
          <p:cNvPicPr>
            <a:picLocks noChangeAspect="1"/>
          </p:cNvPicPr>
          <p:nvPr/>
        </p:nvPicPr>
        <p:blipFill>
          <a:blip r:embed="rId5"/>
          <a:stretch>
            <a:fillRect/>
          </a:stretch>
        </p:blipFill>
        <p:spPr>
          <a:xfrm>
            <a:off x="2914650" y="3966210"/>
            <a:ext cx="342900" cy="342900"/>
          </a:xfrm>
          <a:prstGeom prst="rect">
            <a:avLst/>
          </a:prstGeom>
        </p:spPr>
      </p:pic>
      <p:sp>
        <p:nvSpPr>
          <p:cNvPr id="11" name="Shape 6"/>
          <p:cNvSpPr/>
          <p:nvPr/>
        </p:nvSpPr>
        <p:spPr>
          <a:xfrm>
            <a:off x="3794760" y="3794760"/>
            <a:ext cx="685800" cy="685800"/>
          </a:xfrm>
          <a:prstGeom prst="ellipse">
            <a:avLst/>
          </a:prstGeom>
          <a:solidFill>
            <a:srgbClr val="F4B942"/>
          </a:solidFill>
          <a:ln/>
        </p:spPr>
      </p:sp>
      <p:pic>
        <p:nvPicPr>
          <p:cNvPr id="12" name="Image 3" descr="preencoded.png"/>
          <p:cNvPicPr>
            <a:picLocks noChangeAspect="1"/>
          </p:cNvPicPr>
          <p:nvPr/>
        </p:nvPicPr>
        <p:blipFill>
          <a:blip r:embed="rId6"/>
          <a:stretch>
            <a:fillRect/>
          </a:stretch>
        </p:blipFill>
        <p:spPr>
          <a:xfrm>
            <a:off x="3966210" y="3966210"/>
            <a:ext cx="342900" cy="342900"/>
          </a:xfrm>
          <a:prstGeom prst="rect">
            <a:avLst/>
          </a:prstGeom>
        </p:spPr>
      </p:pic>
      <p:sp>
        <p:nvSpPr>
          <p:cNvPr id="13" name="Text 7"/>
          <p:cNvSpPr/>
          <p:nvPr/>
        </p:nvSpPr>
        <p:spPr>
          <a:xfrm>
            <a:off x="5651696" y="3771900"/>
            <a:ext cx="2743200" cy="365760"/>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Zahwa Alya Yamin</a:t>
            </a:r>
            <a:endParaRPr lang="en-US" sz="1400" dirty="0"/>
          </a:p>
        </p:txBody>
      </p:sp>
      <p:sp>
        <p:nvSpPr>
          <p:cNvPr id="14" name="Text 8"/>
          <p:cNvSpPr/>
          <p:nvPr/>
        </p:nvSpPr>
        <p:spPr>
          <a:xfrm>
            <a:off x="5511016" y="4092526"/>
            <a:ext cx="274320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245060307111028</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640080"/>
          </a:xfrm>
          <a:prstGeom prst="rect">
            <a:avLst/>
          </a:prstGeom>
          <a:noFill/>
          <a:ln/>
        </p:spPr>
        <p:txBody>
          <a:bodyPr wrap="square" rtlCol="0" anchor="ctr"/>
          <a:lstStyle/>
          <a:p>
            <a:pPr marL="0" indent="0">
              <a:buNone/>
            </a:pPr>
            <a:r>
              <a:rPr lang="en-US" sz="3200" b="1" dirty="0">
                <a:solidFill>
                  <a:srgbClr val="2F3C7E"/>
                </a:solidFill>
                <a:latin typeface="Cambria" pitchFamily="34" charset="0"/>
                <a:ea typeface="Cambria" pitchFamily="34" charset="-122"/>
                <a:cs typeface="Cambria" pitchFamily="34" charset="-120"/>
              </a:rPr>
              <a:t>Latar Belakang &amp; Tujuan</a:t>
            </a:r>
            <a:endParaRPr lang="en-US" sz="3200" dirty="0"/>
          </a:p>
        </p:txBody>
      </p:sp>
      <p:sp>
        <p:nvSpPr>
          <p:cNvPr id="3" name="Shape 1"/>
          <p:cNvSpPr/>
          <p:nvPr/>
        </p:nvSpPr>
        <p:spPr>
          <a:xfrm>
            <a:off x="548640" y="1234440"/>
            <a:ext cx="548640" cy="548640"/>
          </a:xfrm>
          <a:prstGeom prst="ellipse">
            <a:avLst/>
          </a:prstGeom>
          <a:solidFill>
            <a:srgbClr val="2F3C7E"/>
          </a:solidFill>
          <a:ln/>
        </p:spPr>
      </p:sp>
      <p:pic>
        <p:nvPicPr>
          <p:cNvPr id="4" name="Image 0" descr="preencoded.png"/>
          <p:cNvPicPr>
            <a:picLocks noChangeAspect="1"/>
          </p:cNvPicPr>
          <p:nvPr/>
        </p:nvPicPr>
        <p:blipFill>
          <a:blip r:embed="rId3"/>
          <a:stretch>
            <a:fillRect/>
          </a:stretch>
        </p:blipFill>
        <p:spPr>
          <a:xfrm>
            <a:off x="672084" y="1357884"/>
            <a:ext cx="301752" cy="301752"/>
          </a:xfrm>
          <a:prstGeom prst="rect">
            <a:avLst/>
          </a:prstGeom>
        </p:spPr>
      </p:pic>
      <p:sp>
        <p:nvSpPr>
          <p:cNvPr id="5" name="Text 2"/>
          <p:cNvSpPr/>
          <p:nvPr/>
        </p:nvSpPr>
        <p:spPr>
          <a:xfrm>
            <a:off x="1234440" y="1234440"/>
            <a:ext cx="3291840" cy="548640"/>
          </a:xfrm>
          <a:prstGeom prst="rect">
            <a:avLst/>
          </a:prstGeom>
          <a:noFill/>
          <a:ln/>
        </p:spPr>
        <p:txBody>
          <a:bodyPr wrap="square" rtlCol="0" anchor="ctr"/>
          <a:lstStyle/>
          <a:p>
            <a:pPr marL="0" indent="0">
              <a:buNone/>
            </a:pPr>
            <a:r>
              <a:rPr lang="en-US" sz="1800" b="1" dirty="0">
                <a:solidFill>
                  <a:srgbClr val="2F3C7E"/>
                </a:solidFill>
                <a:latin typeface="Cambria" pitchFamily="34" charset="0"/>
                <a:ea typeface="Cambria" pitchFamily="34" charset="-122"/>
                <a:cs typeface="Cambria" pitchFamily="34" charset="-120"/>
              </a:rPr>
              <a:t>Latar Belakang</a:t>
            </a:r>
            <a:endParaRPr lang="en-US" sz="1800" dirty="0"/>
          </a:p>
        </p:txBody>
      </p:sp>
      <p:sp>
        <p:nvSpPr>
          <p:cNvPr id="6" name="Text 3"/>
          <p:cNvSpPr/>
          <p:nvPr/>
        </p:nvSpPr>
        <p:spPr>
          <a:xfrm>
            <a:off x="548640" y="1920240"/>
            <a:ext cx="3931920" cy="2834640"/>
          </a:xfrm>
          <a:prstGeom prst="rect">
            <a:avLst/>
          </a:prstGeom>
          <a:noFill/>
          <a:ln/>
        </p:spPr>
        <p:txBody>
          <a:bodyPr wrap="square" rtlCol="0" anchor="t"/>
          <a:lstStyle/>
          <a:p>
            <a:pPr marL="0" indent="0" algn="just">
              <a:buNone/>
            </a:pP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Pengelolaan dan pencatatan alat tulis di sekolah maupun toko sering dilakukan secara manual sehingga rentan terhadap kesalahan klasifikasi. Teknologi Convolutional Neural Network (CNN) memungkinkan komputer mengenali jenis alat tulis secara otomatis hanya dari gambar, sehingga proses klasifikasi dapat dilakukan lebih cepat, konsisten, dan akurat.</a:t>
            </a:r>
            <a:endParaRPr lang="en-US" sz="1300" dirty="0">
              <a:latin typeface="Times New Roman" panose="02020603050405020304" pitchFamily="18" charset="0"/>
              <a:cs typeface="Times New Roman" panose="02020603050405020304" pitchFamily="18" charset="0"/>
            </a:endParaRPr>
          </a:p>
        </p:txBody>
      </p:sp>
      <p:sp>
        <p:nvSpPr>
          <p:cNvPr id="7" name="Shape 4"/>
          <p:cNvSpPr/>
          <p:nvPr/>
        </p:nvSpPr>
        <p:spPr>
          <a:xfrm>
            <a:off x="4846320" y="1234440"/>
            <a:ext cx="548640" cy="548640"/>
          </a:xfrm>
          <a:prstGeom prst="ellipse">
            <a:avLst/>
          </a:prstGeom>
          <a:solidFill>
            <a:srgbClr val="F96167"/>
          </a:solidFill>
          <a:ln/>
        </p:spPr>
      </p:sp>
      <p:pic>
        <p:nvPicPr>
          <p:cNvPr id="8" name="Image 1" descr="preencoded.png"/>
          <p:cNvPicPr>
            <a:picLocks noChangeAspect="1"/>
          </p:cNvPicPr>
          <p:nvPr/>
        </p:nvPicPr>
        <p:blipFill>
          <a:blip r:embed="rId4"/>
          <a:stretch>
            <a:fillRect/>
          </a:stretch>
        </p:blipFill>
        <p:spPr>
          <a:xfrm>
            <a:off x="4969764" y="1357884"/>
            <a:ext cx="301752" cy="301752"/>
          </a:xfrm>
          <a:prstGeom prst="rect">
            <a:avLst/>
          </a:prstGeom>
        </p:spPr>
      </p:pic>
      <p:sp>
        <p:nvSpPr>
          <p:cNvPr id="9" name="Text 5"/>
          <p:cNvSpPr/>
          <p:nvPr/>
        </p:nvSpPr>
        <p:spPr>
          <a:xfrm>
            <a:off x="5532120" y="1234440"/>
            <a:ext cx="3291840" cy="548640"/>
          </a:xfrm>
          <a:prstGeom prst="rect">
            <a:avLst/>
          </a:prstGeom>
          <a:noFill/>
          <a:ln/>
        </p:spPr>
        <p:txBody>
          <a:bodyPr wrap="square" rtlCol="0" anchor="ctr"/>
          <a:lstStyle/>
          <a:p>
            <a:pPr marL="0" indent="0">
              <a:buNone/>
            </a:pPr>
            <a:r>
              <a:rPr lang="en-US" sz="1800" b="1" dirty="0">
                <a:solidFill>
                  <a:srgbClr val="2F3C7E"/>
                </a:solidFill>
                <a:latin typeface="Cambria" pitchFamily="34" charset="0"/>
                <a:ea typeface="Cambria" pitchFamily="34" charset="-122"/>
                <a:cs typeface="Cambria" pitchFamily="34" charset="-120"/>
              </a:rPr>
              <a:t>Tujuan</a:t>
            </a:r>
            <a:endParaRPr lang="en-US" sz="1800" dirty="0"/>
          </a:p>
        </p:txBody>
      </p:sp>
      <p:sp>
        <p:nvSpPr>
          <p:cNvPr id="10" name="Text 6"/>
          <p:cNvSpPr/>
          <p:nvPr/>
        </p:nvSpPr>
        <p:spPr>
          <a:xfrm>
            <a:off x="5074920" y="1892456"/>
            <a:ext cx="3749040" cy="2834640"/>
          </a:xfrm>
          <a:prstGeom prst="rect">
            <a:avLst/>
          </a:prstGeom>
          <a:noFill/>
          <a:ln/>
        </p:spPr>
        <p:txBody>
          <a:bodyPr wrap="square" rtlCol="0" anchor="t"/>
          <a:lstStyle/>
          <a:p>
            <a:pPr marL="342900" indent="-342900" algn="just">
              <a:spcAft>
                <a:spcPts val="800"/>
              </a:spcAft>
              <a:buSzPct val="100000"/>
              <a:buChar char="•"/>
            </a:pP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Membangun model CNN untuk mengklasifikasikan gambar ke dalam 4 kategori </a:t>
            </a:r>
            <a:r>
              <a:rPr lang="en-US" sz="1300" dirty="0" err="1">
                <a:solidFill>
                  <a:srgbClr val="1E293B"/>
                </a:solidFill>
                <a:latin typeface="Times New Roman" panose="02020603050405020304" pitchFamily="18" charset="0"/>
                <a:ea typeface="Calibri" pitchFamily="34" charset="-122"/>
                <a:cs typeface="Times New Roman" panose="02020603050405020304" pitchFamily="18" charset="0"/>
              </a:rPr>
              <a:t>alat</a:t>
            </a: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 </a:t>
            </a:r>
            <a:r>
              <a:rPr lang="en-US" sz="1300" dirty="0" err="1">
                <a:solidFill>
                  <a:srgbClr val="1E293B"/>
                </a:solidFill>
                <a:latin typeface="Times New Roman" panose="02020603050405020304" pitchFamily="18" charset="0"/>
                <a:ea typeface="Calibri" pitchFamily="34" charset="-122"/>
                <a:cs typeface="Times New Roman" panose="02020603050405020304" pitchFamily="18" charset="0"/>
              </a:rPr>
              <a:t>tulis</a:t>
            </a: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a:t>
            </a:r>
            <a:endParaRPr lang="en-US" sz="1300" dirty="0">
              <a:latin typeface="Times New Roman" panose="02020603050405020304" pitchFamily="18" charset="0"/>
              <a:cs typeface="Times New Roman" panose="02020603050405020304" pitchFamily="18" charset="0"/>
            </a:endParaRPr>
          </a:p>
          <a:p>
            <a:pPr marL="342900" indent="-342900" algn="just">
              <a:spcAft>
                <a:spcPts val="800"/>
              </a:spcAft>
              <a:buSzPct val="100000"/>
              <a:buChar char="•"/>
            </a:pP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Melakukan preprocessing, training, testing, dan evaluasi model </a:t>
            </a:r>
            <a:r>
              <a:rPr lang="en-US" sz="1300" dirty="0" err="1">
                <a:solidFill>
                  <a:srgbClr val="1E293B"/>
                </a:solidFill>
                <a:latin typeface="Times New Roman" panose="02020603050405020304" pitchFamily="18" charset="0"/>
                <a:ea typeface="Calibri" pitchFamily="34" charset="-122"/>
                <a:cs typeface="Times New Roman" panose="02020603050405020304" pitchFamily="18" charset="0"/>
              </a:rPr>
              <a:t>secara</a:t>
            </a: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 </a:t>
            </a:r>
            <a:r>
              <a:rPr lang="en-US" sz="1300" dirty="0" err="1">
                <a:solidFill>
                  <a:srgbClr val="1E293B"/>
                </a:solidFill>
                <a:latin typeface="Times New Roman" panose="02020603050405020304" pitchFamily="18" charset="0"/>
                <a:ea typeface="Calibri" pitchFamily="34" charset="-122"/>
                <a:cs typeface="Times New Roman" panose="02020603050405020304" pitchFamily="18" charset="0"/>
              </a:rPr>
              <a:t>menyeluruh</a:t>
            </a: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a:t>
            </a:r>
            <a:endParaRPr lang="en-US" sz="1300" dirty="0">
              <a:latin typeface="Times New Roman" panose="02020603050405020304" pitchFamily="18" charset="0"/>
              <a:cs typeface="Times New Roman" panose="02020603050405020304" pitchFamily="18" charset="0"/>
            </a:endParaRPr>
          </a:p>
          <a:p>
            <a:pPr marL="342900" indent="-342900" algn="just">
              <a:spcAft>
                <a:spcPts val="800"/>
              </a:spcAft>
              <a:buSzPct val="100000"/>
              <a:buChar char="•"/>
            </a:pP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Mengukur performa model menggunakan akurasi, confusion matrix, dan classification report.</a:t>
            </a:r>
            <a:endParaRPr lang="en-US" sz="1300" dirty="0">
              <a:latin typeface="Times New Roman" panose="02020603050405020304" pitchFamily="18" charset="0"/>
              <a:cs typeface="Times New Roman" panose="02020603050405020304" pitchFamily="18" charset="0"/>
            </a:endParaRPr>
          </a:p>
          <a:p>
            <a:pPr marL="342900" indent="-342900" algn="just">
              <a:spcAft>
                <a:spcPts val="800"/>
              </a:spcAft>
              <a:buSzPct val="100000"/>
              <a:buChar char="•"/>
            </a:pP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Membuat demo prediksi terhadap gambar alat </a:t>
            </a:r>
            <a:r>
              <a:rPr lang="en-US" sz="1300" dirty="0" err="1">
                <a:solidFill>
                  <a:srgbClr val="1E293B"/>
                </a:solidFill>
                <a:latin typeface="Times New Roman" panose="02020603050405020304" pitchFamily="18" charset="0"/>
                <a:ea typeface="Calibri" pitchFamily="34" charset="-122"/>
                <a:cs typeface="Times New Roman" panose="02020603050405020304" pitchFamily="18" charset="0"/>
              </a:rPr>
              <a:t>tulis</a:t>
            </a: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 </a:t>
            </a:r>
            <a:r>
              <a:rPr lang="en-US" sz="1300" dirty="0" err="1">
                <a:solidFill>
                  <a:srgbClr val="1E293B"/>
                </a:solidFill>
                <a:latin typeface="Times New Roman" panose="02020603050405020304" pitchFamily="18" charset="0"/>
                <a:ea typeface="Calibri" pitchFamily="34" charset="-122"/>
                <a:cs typeface="Times New Roman" panose="02020603050405020304" pitchFamily="18" charset="0"/>
              </a:rPr>
              <a:t>baru</a:t>
            </a: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640080"/>
          </a:xfrm>
          <a:prstGeom prst="rect">
            <a:avLst/>
          </a:prstGeom>
          <a:noFill/>
          <a:ln/>
        </p:spPr>
        <p:txBody>
          <a:bodyPr wrap="square" rtlCol="0" anchor="ctr"/>
          <a:lstStyle/>
          <a:p>
            <a:pPr marL="0" indent="0">
              <a:buNone/>
            </a:pPr>
            <a:r>
              <a:rPr lang="en-US" sz="3200" b="1" dirty="0">
                <a:solidFill>
                  <a:srgbClr val="2F3C7E"/>
                </a:solidFill>
                <a:latin typeface="Cambria" pitchFamily="34" charset="0"/>
                <a:ea typeface="Cambria" pitchFamily="34" charset="-122"/>
                <a:cs typeface="Cambria" pitchFamily="34" charset="-120"/>
              </a:rPr>
              <a:t>Dataset</a:t>
            </a:r>
            <a:endParaRPr lang="en-US" sz="3200" dirty="0"/>
          </a:p>
        </p:txBody>
      </p:sp>
      <p:sp>
        <p:nvSpPr>
          <p:cNvPr id="3" name="Shape 1"/>
          <p:cNvSpPr/>
          <p:nvPr/>
        </p:nvSpPr>
        <p:spPr>
          <a:xfrm>
            <a:off x="548640" y="1143000"/>
            <a:ext cx="2377440" cy="1143000"/>
          </a:xfrm>
          <a:prstGeom prst="roundRect">
            <a:avLst>
              <a:gd name="adj" fmla="val 6400"/>
            </a:avLst>
          </a:prstGeom>
          <a:solidFill>
            <a:srgbClr val="EEF1FA"/>
          </a:solidFill>
          <a:ln/>
          <a:effectLst>
            <a:outerShdw blurRad="76200" dist="25400" dir="2700000" algn="bl" rotWithShape="0">
              <a:srgbClr val="000000">
                <a:alpha val="10000"/>
              </a:srgbClr>
            </a:outerShdw>
          </a:effectLst>
        </p:spPr>
      </p:sp>
      <p:sp>
        <p:nvSpPr>
          <p:cNvPr id="4" name="Text 2"/>
          <p:cNvSpPr/>
          <p:nvPr/>
        </p:nvSpPr>
        <p:spPr>
          <a:xfrm>
            <a:off x="548640" y="1234440"/>
            <a:ext cx="2377440" cy="594360"/>
          </a:xfrm>
          <a:prstGeom prst="rect">
            <a:avLst/>
          </a:prstGeom>
          <a:noFill/>
          <a:ln/>
        </p:spPr>
        <p:txBody>
          <a:bodyPr wrap="square" rtlCol="0" anchor="ctr"/>
          <a:lstStyle/>
          <a:p>
            <a:pPr marL="0" indent="0" algn="ctr">
              <a:buNone/>
            </a:pPr>
            <a:r>
              <a:rPr lang="en-US" sz="3200" b="1" dirty="0">
                <a:solidFill>
                  <a:srgbClr val="F96167"/>
                </a:solidFill>
                <a:latin typeface="Cambria" pitchFamily="34" charset="0"/>
                <a:ea typeface="Cambria" pitchFamily="34" charset="-122"/>
                <a:cs typeface="Cambria" pitchFamily="34" charset="-120"/>
              </a:rPr>
              <a:t>300</a:t>
            </a:r>
            <a:endParaRPr lang="en-US" sz="3200" dirty="0"/>
          </a:p>
        </p:txBody>
      </p:sp>
      <p:sp>
        <p:nvSpPr>
          <p:cNvPr id="5" name="Text 3"/>
          <p:cNvSpPr/>
          <p:nvPr/>
        </p:nvSpPr>
        <p:spPr>
          <a:xfrm>
            <a:off x="548640" y="1856232"/>
            <a:ext cx="2377440" cy="365760"/>
          </a:xfrm>
          <a:prstGeom prst="rect">
            <a:avLst/>
          </a:prstGeom>
          <a:noFill/>
          <a:ln/>
        </p:spPr>
        <p:txBody>
          <a:bodyPr wrap="square" rtlCol="0" anchor="ctr"/>
          <a:lstStyle/>
          <a:p>
            <a:pPr marL="0" indent="0" algn="ctr">
              <a:buNone/>
            </a:pPr>
            <a:r>
              <a:rPr lang="en-US" sz="1200" dirty="0">
                <a:solidFill>
                  <a:srgbClr val="2F3C7E"/>
                </a:solidFill>
                <a:latin typeface="Times New Roman" panose="02020603050405020304" pitchFamily="18" charset="0"/>
                <a:ea typeface="Calibri" pitchFamily="34" charset="-122"/>
                <a:cs typeface="Times New Roman" panose="02020603050405020304" pitchFamily="18" charset="0"/>
              </a:rPr>
              <a:t>Total Gambar Dataset</a:t>
            </a:r>
            <a:endParaRPr lang="en-US" sz="1200" dirty="0">
              <a:latin typeface="Times New Roman" panose="02020603050405020304" pitchFamily="18" charset="0"/>
              <a:cs typeface="Times New Roman" panose="02020603050405020304" pitchFamily="18" charset="0"/>
            </a:endParaRPr>
          </a:p>
        </p:txBody>
      </p:sp>
      <p:sp>
        <p:nvSpPr>
          <p:cNvPr id="6" name="Shape 4"/>
          <p:cNvSpPr/>
          <p:nvPr/>
        </p:nvSpPr>
        <p:spPr>
          <a:xfrm>
            <a:off x="548640" y="2377440"/>
            <a:ext cx="2377440" cy="1143000"/>
          </a:xfrm>
          <a:prstGeom prst="roundRect">
            <a:avLst>
              <a:gd name="adj" fmla="val 6400"/>
            </a:avLst>
          </a:prstGeom>
          <a:solidFill>
            <a:srgbClr val="EEF1FA"/>
          </a:solidFill>
          <a:ln/>
          <a:effectLst>
            <a:outerShdw blurRad="76200" dist="25400" dir="2700000" algn="bl" rotWithShape="0">
              <a:srgbClr val="000000">
                <a:alpha val="10000"/>
              </a:srgbClr>
            </a:outerShdw>
          </a:effectLst>
        </p:spPr>
      </p:sp>
      <p:sp>
        <p:nvSpPr>
          <p:cNvPr id="7" name="Text 5"/>
          <p:cNvSpPr/>
          <p:nvPr/>
        </p:nvSpPr>
        <p:spPr>
          <a:xfrm>
            <a:off x="548640" y="2468880"/>
            <a:ext cx="2377440" cy="594360"/>
          </a:xfrm>
          <a:prstGeom prst="rect">
            <a:avLst/>
          </a:prstGeom>
          <a:noFill/>
          <a:ln/>
        </p:spPr>
        <p:txBody>
          <a:bodyPr wrap="square" rtlCol="0" anchor="ctr"/>
          <a:lstStyle/>
          <a:p>
            <a:pPr marL="0" indent="0" algn="ctr">
              <a:buNone/>
            </a:pPr>
            <a:r>
              <a:rPr lang="en-US" sz="3200" b="1" dirty="0">
                <a:solidFill>
                  <a:srgbClr val="F96167"/>
                </a:solidFill>
                <a:latin typeface="Cambria" pitchFamily="34" charset="0"/>
                <a:ea typeface="Cambria" pitchFamily="34" charset="-122"/>
                <a:cs typeface="Cambria" pitchFamily="34" charset="-120"/>
              </a:rPr>
              <a:t>4</a:t>
            </a:r>
            <a:endParaRPr lang="en-US" sz="3200" dirty="0"/>
          </a:p>
        </p:txBody>
      </p:sp>
      <p:sp>
        <p:nvSpPr>
          <p:cNvPr id="8" name="Text 6"/>
          <p:cNvSpPr/>
          <p:nvPr/>
        </p:nvSpPr>
        <p:spPr>
          <a:xfrm>
            <a:off x="548640" y="3090672"/>
            <a:ext cx="2377440" cy="365760"/>
          </a:xfrm>
          <a:prstGeom prst="rect">
            <a:avLst/>
          </a:prstGeom>
          <a:noFill/>
          <a:ln/>
        </p:spPr>
        <p:txBody>
          <a:bodyPr wrap="square" rtlCol="0" anchor="ctr"/>
          <a:lstStyle/>
          <a:p>
            <a:pPr marL="0" indent="0" algn="ctr">
              <a:buNone/>
            </a:pPr>
            <a:r>
              <a:rPr lang="en-US" sz="1200" dirty="0">
                <a:solidFill>
                  <a:srgbClr val="2F3C7E"/>
                </a:solidFill>
                <a:latin typeface="Times New Roman" panose="02020603050405020304" pitchFamily="18" charset="0"/>
                <a:ea typeface="Calibri" pitchFamily="34" charset="-122"/>
                <a:cs typeface="Times New Roman" panose="02020603050405020304" pitchFamily="18" charset="0"/>
              </a:rPr>
              <a:t>Kategori Kelas</a:t>
            </a:r>
            <a:endParaRPr lang="en-US" sz="1200" dirty="0">
              <a:latin typeface="Times New Roman" panose="02020603050405020304" pitchFamily="18" charset="0"/>
              <a:cs typeface="Times New Roman" panose="02020603050405020304" pitchFamily="18" charset="0"/>
            </a:endParaRPr>
          </a:p>
        </p:txBody>
      </p:sp>
      <p:sp>
        <p:nvSpPr>
          <p:cNvPr id="9" name="Shape 7"/>
          <p:cNvSpPr/>
          <p:nvPr/>
        </p:nvSpPr>
        <p:spPr>
          <a:xfrm>
            <a:off x="548640" y="3611880"/>
            <a:ext cx="2377440" cy="1143000"/>
          </a:xfrm>
          <a:prstGeom prst="roundRect">
            <a:avLst>
              <a:gd name="adj" fmla="val 6400"/>
            </a:avLst>
          </a:prstGeom>
          <a:solidFill>
            <a:srgbClr val="EEF1FA"/>
          </a:solidFill>
          <a:ln/>
          <a:effectLst>
            <a:outerShdw blurRad="76200" dist="25400" dir="2700000" algn="bl" rotWithShape="0">
              <a:srgbClr val="000000">
                <a:alpha val="10000"/>
              </a:srgbClr>
            </a:outerShdw>
          </a:effectLst>
        </p:spPr>
      </p:sp>
      <p:sp>
        <p:nvSpPr>
          <p:cNvPr id="10" name="Text 8"/>
          <p:cNvSpPr/>
          <p:nvPr/>
        </p:nvSpPr>
        <p:spPr>
          <a:xfrm>
            <a:off x="548640" y="3703320"/>
            <a:ext cx="2377440" cy="594360"/>
          </a:xfrm>
          <a:prstGeom prst="rect">
            <a:avLst/>
          </a:prstGeom>
          <a:noFill/>
          <a:ln/>
        </p:spPr>
        <p:txBody>
          <a:bodyPr wrap="square" rtlCol="0" anchor="ctr"/>
          <a:lstStyle/>
          <a:p>
            <a:pPr marL="0" indent="0" algn="ctr">
              <a:buNone/>
            </a:pPr>
            <a:r>
              <a:rPr lang="en-US" sz="3200" b="1" dirty="0">
                <a:solidFill>
                  <a:srgbClr val="F96167"/>
                </a:solidFill>
                <a:latin typeface="Cambria" pitchFamily="34" charset="0"/>
                <a:ea typeface="Cambria" pitchFamily="34" charset="-122"/>
                <a:cs typeface="Cambria" pitchFamily="34" charset="-120"/>
              </a:rPr>
              <a:t>224 × 224</a:t>
            </a:r>
            <a:endParaRPr lang="en-US" sz="3200" dirty="0"/>
          </a:p>
        </p:txBody>
      </p:sp>
      <p:sp>
        <p:nvSpPr>
          <p:cNvPr id="11" name="Text 9"/>
          <p:cNvSpPr/>
          <p:nvPr/>
        </p:nvSpPr>
        <p:spPr>
          <a:xfrm>
            <a:off x="548640" y="4325112"/>
            <a:ext cx="2377440" cy="365760"/>
          </a:xfrm>
          <a:prstGeom prst="rect">
            <a:avLst/>
          </a:prstGeom>
          <a:noFill/>
          <a:ln/>
        </p:spPr>
        <p:txBody>
          <a:bodyPr wrap="square" rtlCol="0" anchor="ctr"/>
          <a:lstStyle/>
          <a:p>
            <a:pPr marL="0" indent="0" algn="ctr">
              <a:buNone/>
            </a:pPr>
            <a:r>
              <a:rPr lang="en-US" sz="1200" dirty="0">
                <a:solidFill>
                  <a:srgbClr val="2F3C7E"/>
                </a:solidFill>
                <a:latin typeface="Times New Roman" panose="02020603050405020304" pitchFamily="18" charset="0"/>
                <a:ea typeface="Calibri" pitchFamily="34" charset="-122"/>
                <a:cs typeface="Times New Roman" panose="02020603050405020304" pitchFamily="18" charset="0"/>
              </a:rPr>
              <a:t>Ukuran Gambar (piksel)</a:t>
            </a:r>
            <a:endParaRPr lang="en-US" sz="1200" dirty="0">
              <a:latin typeface="Times New Roman" panose="02020603050405020304" pitchFamily="18" charset="0"/>
              <a:cs typeface="Times New Roman" panose="02020603050405020304" pitchFamily="18" charset="0"/>
            </a:endParaRPr>
          </a:p>
        </p:txBody>
      </p:sp>
      <p:sp>
        <p:nvSpPr>
          <p:cNvPr id="12" name="Shape 10"/>
          <p:cNvSpPr/>
          <p:nvPr/>
        </p:nvSpPr>
        <p:spPr>
          <a:xfrm>
            <a:off x="3246120" y="1143000"/>
            <a:ext cx="2468880" cy="1691640"/>
          </a:xfrm>
          <a:prstGeom prst="roundRect">
            <a:avLst>
              <a:gd name="adj" fmla="val 4324"/>
            </a:avLst>
          </a:prstGeom>
          <a:solidFill>
            <a:srgbClr val="EEF1FA"/>
          </a:solidFill>
          <a:ln/>
          <a:effectLst>
            <a:outerShdw blurRad="76200" dist="25400" dir="2700000" algn="bl" rotWithShape="0">
              <a:srgbClr val="000000">
                <a:alpha val="10000"/>
              </a:srgbClr>
            </a:outerShdw>
          </a:effectLst>
        </p:spPr>
      </p:sp>
      <p:sp>
        <p:nvSpPr>
          <p:cNvPr id="13" name="Shape 11"/>
          <p:cNvSpPr/>
          <p:nvPr/>
        </p:nvSpPr>
        <p:spPr>
          <a:xfrm>
            <a:off x="4160520" y="1325880"/>
            <a:ext cx="640080" cy="640080"/>
          </a:xfrm>
          <a:prstGeom prst="ellipse">
            <a:avLst/>
          </a:prstGeom>
          <a:solidFill>
            <a:srgbClr val="2F3C7E"/>
          </a:solidFill>
          <a:ln/>
        </p:spPr>
      </p:sp>
      <p:pic>
        <p:nvPicPr>
          <p:cNvPr id="14" name="Image 0" descr="preencoded.png"/>
          <p:cNvPicPr>
            <a:picLocks noChangeAspect="1"/>
          </p:cNvPicPr>
          <p:nvPr/>
        </p:nvPicPr>
        <p:blipFill>
          <a:blip r:embed="rId3"/>
          <a:stretch>
            <a:fillRect/>
          </a:stretch>
        </p:blipFill>
        <p:spPr>
          <a:xfrm>
            <a:off x="4304538" y="1469898"/>
            <a:ext cx="352044" cy="352044"/>
          </a:xfrm>
          <a:prstGeom prst="rect">
            <a:avLst/>
          </a:prstGeom>
        </p:spPr>
      </p:pic>
      <p:sp>
        <p:nvSpPr>
          <p:cNvPr id="15" name="Text 12"/>
          <p:cNvSpPr/>
          <p:nvPr/>
        </p:nvSpPr>
        <p:spPr>
          <a:xfrm>
            <a:off x="3246120" y="2103120"/>
            <a:ext cx="2468880" cy="502920"/>
          </a:xfrm>
          <a:prstGeom prst="rect">
            <a:avLst/>
          </a:prstGeom>
          <a:noFill/>
          <a:ln/>
        </p:spPr>
        <p:txBody>
          <a:bodyPr wrap="square" rtlCol="0" anchor="ctr"/>
          <a:lstStyle/>
          <a:p>
            <a:pPr marL="0" indent="0" algn="ctr">
              <a:buNone/>
            </a:pPr>
            <a:r>
              <a:rPr lang="en-US" sz="1600" b="1" dirty="0">
                <a:solidFill>
                  <a:srgbClr val="2F3C7E"/>
                </a:solidFill>
                <a:latin typeface="Cambria" pitchFamily="34" charset="0"/>
                <a:ea typeface="Cambria" pitchFamily="34" charset="-122"/>
                <a:cs typeface="Cambria" pitchFamily="34" charset="-120"/>
              </a:rPr>
              <a:t>Buku</a:t>
            </a:r>
            <a:endParaRPr lang="en-US" sz="1600" dirty="0"/>
          </a:p>
        </p:txBody>
      </p:sp>
      <p:sp>
        <p:nvSpPr>
          <p:cNvPr id="16" name="Shape 13"/>
          <p:cNvSpPr/>
          <p:nvPr/>
        </p:nvSpPr>
        <p:spPr>
          <a:xfrm>
            <a:off x="6126480" y="1143000"/>
            <a:ext cx="2468880" cy="1691640"/>
          </a:xfrm>
          <a:prstGeom prst="roundRect">
            <a:avLst>
              <a:gd name="adj" fmla="val 4324"/>
            </a:avLst>
          </a:prstGeom>
          <a:solidFill>
            <a:srgbClr val="EEF1FA"/>
          </a:solidFill>
          <a:ln/>
          <a:effectLst>
            <a:outerShdw blurRad="76200" dist="25400" dir="2700000" algn="bl" rotWithShape="0">
              <a:srgbClr val="000000">
                <a:alpha val="10000"/>
              </a:srgbClr>
            </a:outerShdw>
          </a:effectLst>
        </p:spPr>
      </p:sp>
      <p:sp>
        <p:nvSpPr>
          <p:cNvPr id="17" name="Shape 14"/>
          <p:cNvSpPr/>
          <p:nvPr/>
        </p:nvSpPr>
        <p:spPr>
          <a:xfrm>
            <a:off x="7040880" y="1325880"/>
            <a:ext cx="640080" cy="640080"/>
          </a:xfrm>
          <a:prstGeom prst="ellipse">
            <a:avLst/>
          </a:prstGeom>
          <a:solidFill>
            <a:srgbClr val="2F3C7E"/>
          </a:solidFill>
          <a:ln/>
        </p:spPr>
      </p:sp>
      <p:pic>
        <p:nvPicPr>
          <p:cNvPr id="18" name="Image 1" descr="preencoded.png"/>
          <p:cNvPicPr>
            <a:picLocks noChangeAspect="1"/>
          </p:cNvPicPr>
          <p:nvPr/>
        </p:nvPicPr>
        <p:blipFill>
          <a:blip r:embed="rId4"/>
          <a:stretch>
            <a:fillRect/>
          </a:stretch>
        </p:blipFill>
        <p:spPr>
          <a:xfrm>
            <a:off x="7184898" y="1469898"/>
            <a:ext cx="352044" cy="352044"/>
          </a:xfrm>
          <a:prstGeom prst="rect">
            <a:avLst/>
          </a:prstGeom>
        </p:spPr>
      </p:pic>
      <p:sp>
        <p:nvSpPr>
          <p:cNvPr id="19" name="Text 15"/>
          <p:cNvSpPr/>
          <p:nvPr/>
        </p:nvSpPr>
        <p:spPr>
          <a:xfrm>
            <a:off x="6126480" y="2103120"/>
            <a:ext cx="2468880" cy="502920"/>
          </a:xfrm>
          <a:prstGeom prst="rect">
            <a:avLst/>
          </a:prstGeom>
          <a:noFill/>
          <a:ln/>
        </p:spPr>
        <p:txBody>
          <a:bodyPr wrap="square" rtlCol="0" anchor="ctr"/>
          <a:lstStyle/>
          <a:p>
            <a:pPr marL="0" indent="0" algn="ctr">
              <a:buNone/>
            </a:pPr>
            <a:r>
              <a:rPr lang="en-US" sz="1600" b="1" dirty="0">
                <a:solidFill>
                  <a:srgbClr val="2F3C7E"/>
                </a:solidFill>
                <a:latin typeface="Cambria" pitchFamily="34" charset="0"/>
                <a:ea typeface="Cambria" pitchFamily="34" charset="-122"/>
                <a:cs typeface="Cambria" pitchFamily="34" charset="-120"/>
              </a:rPr>
              <a:t>Penghapus</a:t>
            </a:r>
            <a:endParaRPr lang="en-US" sz="1600" dirty="0"/>
          </a:p>
        </p:txBody>
      </p:sp>
      <p:sp>
        <p:nvSpPr>
          <p:cNvPr id="20" name="Shape 16"/>
          <p:cNvSpPr/>
          <p:nvPr/>
        </p:nvSpPr>
        <p:spPr>
          <a:xfrm>
            <a:off x="3246120" y="3017520"/>
            <a:ext cx="2468880" cy="1691640"/>
          </a:xfrm>
          <a:prstGeom prst="roundRect">
            <a:avLst>
              <a:gd name="adj" fmla="val 4324"/>
            </a:avLst>
          </a:prstGeom>
          <a:solidFill>
            <a:srgbClr val="EEF1FA"/>
          </a:solidFill>
          <a:ln/>
          <a:effectLst>
            <a:outerShdw blurRad="76200" dist="25400" dir="2700000" algn="bl" rotWithShape="0">
              <a:srgbClr val="000000">
                <a:alpha val="10000"/>
              </a:srgbClr>
            </a:outerShdw>
          </a:effectLst>
        </p:spPr>
      </p:sp>
      <p:sp>
        <p:nvSpPr>
          <p:cNvPr id="21" name="Shape 17"/>
          <p:cNvSpPr/>
          <p:nvPr/>
        </p:nvSpPr>
        <p:spPr>
          <a:xfrm>
            <a:off x="4160520" y="3200400"/>
            <a:ext cx="640080" cy="640080"/>
          </a:xfrm>
          <a:prstGeom prst="ellipse">
            <a:avLst/>
          </a:prstGeom>
          <a:solidFill>
            <a:srgbClr val="2F3C7E"/>
          </a:solidFill>
          <a:ln/>
        </p:spPr>
      </p:sp>
      <p:pic>
        <p:nvPicPr>
          <p:cNvPr id="22" name="Image 2" descr="preencoded.png"/>
          <p:cNvPicPr>
            <a:picLocks noChangeAspect="1"/>
          </p:cNvPicPr>
          <p:nvPr/>
        </p:nvPicPr>
        <p:blipFill>
          <a:blip r:embed="rId5"/>
          <a:stretch>
            <a:fillRect/>
          </a:stretch>
        </p:blipFill>
        <p:spPr>
          <a:xfrm>
            <a:off x="4304538" y="3344418"/>
            <a:ext cx="352044" cy="352044"/>
          </a:xfrm>
          <a:prstGeom prst="rect">
            <a:avLst/>
          </a:prstGeom>
        </p:spPr>
      </p:pic>
      <p:sp>
        <p:nvSpPr>
          <p:cNvPr id="23" name="Text 18"/>
          <p:cNvSpPr/>
          <p:nvPr/>
        </p:nvSpPr>
        <p:spPr>
          <a:xfrm>
            <a:off x="3246120" y="3977640"/>
            <a:ext cx="2468880" cy="502920"/>
          </a:xfrm>
          <a:prstGeom prst="rect">
            <a:avLst/>
          </a:prstGeom>
          <a:noFill/>
          <a:ln/>
        </p:spPr>
        <p:txBody>
          <a:bodyPr wrap="square" rtlCol="0" anchor="ctr"/>
          <a:lstStyle/>
          <a:p>
            <a:pPr marL="0" indent="0" algn="ctr">
              <a:buNone/>
            </a:pPr>
            <a:r>
              <a:rPr lang="en-US" sz="1600" b="1" dirty="0">
                <a:solidFill>
                  <a:srgbClr val="2F3C7E"/>
                </a:solidFill>
                <a:latin typeface="Cambria" pitchFamily="34" charset="0"/>
                <a:ea typeface="Cambria" pitchFamily="34" charset="-122"/>
                <a:cs typeface="Cambria" pitchFamily="34" charset="-120"/>
              </a:rPr>
              <a:t>Pensil</a:t>
            </a:r>
            <a:endParaRPr lang="en-US" sz="1600" dirty="0"/>
          </a:p>
        </p:txBody>
      </p:sp>
      <p:sp>
        <p:nvSpPr>
          <p:cNvPr id="24" name="Shape 19"/>
          <p:cNvSpPr/>
          <p:nvPr/>
        </p:nvSpPr>
        <p:spPr>
          <a:xfrm>
            <a:off x="6126480" y="3017520"/>
            <a:ext cx="2468880" cy="1691640"/>
          </a:xfrm>
          <a:prstGeom prst="roundRect">
            <a:avLst>
              <a:gd name="adj" fmla="val 4324"/>
            </a:avLst>
          </a:prstGeom>
          <a:solidFill>
            <a:srgbClr val="EEF1FA"/>
          </a:solidFill>
          <a:ln/>
          <a:effectLst>
            <a:outerShdw blurRad="76200" dist="25400" dir="2700000" algn="bl" rotWithShape="0">
              <a:srgbClr val="000000">
                <a:alpha val="10000"/>
              </a:srgbClr>
            </a:outerShdw>
          </a:effectLst>
        </p:spPr>
      </p:sp>
      <p:sp>
        <p:nvSpPr>
          <p:cNvPr id="25" name="Shape 20"/>
          <p:cNvSpPr/>
          <p:nvPr/>
        </p:nvSpPr>
        <p:spPr>
          <a:xfrm>
            <a:off x="7040880" y="3200400"/>
            <a:ext cx="640080" cy="640080"/>
          </a:xfrm>
          <a:prstGeom prst="ellipse">
            <a:avLst/>
          </a:prstGeom>
          <a:solidFill>
            <a:srgbClr val="2F3C7E"/>
          </a:solidFill>
          <a:ln/>
        </p:spPr>
      </p:sp>
      <p:pic>
        <p:nvPicPr>
          <p:cNvPr id="26" name="Image 3" descr="preencoded.png"/>
          <p:cNvPicPr>
            <a:picLocks noChangeAspect="1"/>
          </p:cNvPicPr>
          <p:nvPr/>
        </p:nvPicPr>
        <p:blipFill>
          <a:blip r:embed="rId6"/>
          <a:stretch>
            <a:fillRect/>
          </a:stretch>
        </p:blipFill>
        <p:spPr>
          <a:xfrm>
            <a:off x="7184898" y="3344418"/>
            <a:ext cx="352044" cy="352044"/>
          </a:xfrm>
          <a:prstGeom prst="rect">
            <a:avLst/>
          </a:prstGeom>
        </p:spPr>
      </p:pic>
      <p:sp>
        <p:nvSpPr>
          <p:cNvPr id="27" name="Text 21"/>
          <p:cNvSpPr/>
          <p:nvPr/>
        </p:nvSpPr>
        <p:spPr>
          <a:xfrm>
            <a:off x="6126480" y="3977640"/>
            <a:ext cx="2468880" cy="502920"/>
          </a:xfrm>
          <a:prstGeom prst="rect">
            <a:avLst/>
          </a:prstGeom>
          <a:noFill/>
          <a:ln/>
        </p:spPr>
        <p:txBody>
          <a:bodyPr wrap="square" rtlCol="0" anchor="ctr"/>
          <a:lstStyle/>
          <a:p>
            <a:pPr marL="0" indent="0" algn="ctr">
              <a:buNone/>
            </a:pPr>
            <a:r>
              <a:rPr lang="en-US" sz="1600" b="1" dirty="0">
                <a:solidFill>
                  <a:srgbClr val="2F3C7E"/>
                </a:solidFill>
                <a:latin typeface="Cambria" pitchFamily="34" charset="0"/>
                <a:ea typeface="Cambria" pitchFamily="34" charset="-122"/>
                <a:cs typeface="Cambria" pitchFamily="34" charset="-120"/>
              </a:rPr>
              <a:t>Pulpen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640080"/>
          </a:xfrm>
          <a:prstGeom prst="rect">
            <a:avLst/>
          </a:prstGeom>
          <a:noFill/>
          <a:ln/>
        </p:spPr>
        <p:txBody>
          <a:bodyPr wrap="square" rtlCol="0" anchor="ctr"/>
          <a:lstStyle/>
          <a:p>
            <a:pPr marL="0" indent="0">
              <a:buNone/>
            </a:pPr>
            <a:r>
              <a:rPr lang="en-US" sz="3200" b="1" dirty="0">
                <a:solidFill>
                  <a:srgbClr val="2F3C7E"/>
                </a:solidFill>
                <a:latin typeface="Cambria" pitchFamily="34" charset="0"/>
                <a:ea typeface="Cambria" pitchFamily="34" charset="-122"/>
                <a:cs typeface="Cambria" pitchFamily="34" charset="-120"/>
              </a:rPr>
              <a:t>Preprocessing &amp; Pembagian Data</a:t>
            </a:r>
            <a:endParaRPr lang="en-US" sz="3200" dirty="0"/>
          </a:p>
        </p:txBody>
      </p:sp>
      <p:sp>
        <p:nvSpPr>
          <p:cNvPr id="3" name="Shape 1"/>
          <p:cNvSpPr/>
          <p:nvPr/>
        </p:nvSpPr>
        <p:spPr>
          <a:xfrm>
            <a:off x="457200" y="1463040"/>
            <a:ext cx="2468880" cy="2651760"/>
          </a:xfrm>
          <a:prstGeom prst="roundRect">
            <a:avLst>
              <a:gd name="adj" fmla="val 2963"/>
            </a:avLst>
          </a:prstGeom>
          <a:solidFill>
            <a:srgbClr val="EEF1FA"/>
          </a:solidFill>
          <a:ln/>
          <a:effectLst>
            <a:outerShdw blurRad="76200" dist="25400" dir="2700000" algn="bl" rotWithShape="0">
              <a:srgbClr val="000000">
                <a:alpha val="10000"/>
              </a:srgbClr>
            </a:outerShdw>
          </a:effectLst>
        </p:spPr>
      </p:sp>
      <p:sp>
        <p:nvSpPr>
          <p:cNvPr id="4" name="Shape 2"/>
          <p:cNvSpPr/>
          <p:nvPr/>
        </p:nvSpPr>
        <p:spPr>
          <a:xfrm>
            <a:off x="1417320" y="1691640"/>
            <a:ext cx="548640" cy="548640"/>
          </a:xfrm>
          <a:prstGeom prst="ellipse">
            <a:avLst/>
          </a:prstGeom>
          <a:solidFill>
            <a:srgbClr val="2F3C7E"/>
          </a:solidFill>
          <a:ln/>
        </p:spPr>
      </p:sp>
      <p:pic>
        <p:nvPicPr>
          <p:cNvPr id="5" name="Image 0" descr="preencoded.png"/>
          <p:cNvPicPr>
            <a:picLocks noChangeAspect="1"/>
          </p:cNvPicPr>
          <p:nvPr/>
        </p:nvPicPr>
        <p:blipFill>
          <a:blip r:embed="rId3"/>
          <a:stretch>
            <a:fillRect/>
          </a:stretch>
        </p:blipFill>
        <p:spPr>
          <a:xfrm>
            <a:off x="1540764" y="1815084"/>
            <a:ext cx="301752" cy="301752"/>
          </a:xfrm>
          <a:prstGeom prst="rect">
            <a:avLst/>
          </a:prstGeom>
        </p:spPr>
      </p:pic>
      <p:sp>
        <p:nvSpPr>
          <p:cNvPr id="6" name="Text 3"/>
          <p:cNvSpPr/>
          <p:nvPr/>
        </p:nvSpPr>
        <p:spPr>
          <a:xfrm>
            <a:off x="457200" y="2377440"/>
            <a:ext cx="2468880" cy="411480"/>
          </a:xfrm>
          <a:prstGeom prst="rect">
            <a:avLst/>
          </a:prstGeom>
          <a:noFill/>
          <a:ln/>
        </p:spPr>
        <p:txBody>
          <a:bodyPr wrap="square" rtlCol="0" anchor="ctr"/>
          <a:lstStyle/>
          <a:p>
            <a:pPr marL="0" indent="0" algn="ctr">
              <a:buNone/>
            </a:pPr>
            <a:r>
              <a:rPr lang="en-US" sz="1500" b="1" dirty="0">
                <a:solidFill>
                  <a:srgbClr val="2F3C7E"/>
                </a:solidFill>
                <a:latin typeface="Cambria" pitchFamily="34" charset="0"/>
                <a:ea typeface="Cambria" pitchFamily="34" charset="-122"/>
                <a:cs typeface="Cambria" pitchFamily="34" charset="-120"/>
              </a:rPr>
              <a:t>Image Loading</a:t>
            </a:r>
            <a:endParaRPr lang="en-US" sz="1500" dirty="0"/>
          </a:p>
        </p:txBody>
      </p:sp>
      <p:sp>
        <p:nvSpPr>
          <p:cNvPr id="7" name="Text 4"/>
          <p:cNvSpPr/>
          <p:nvPr/>
        </p:nvSpPr>
        <p:spPr>
          <a:xfrm>
            <a:off x="594360" y="2834640"/>
            <a:ext cx="2194560" cy="1188720"/>
          </a:xfrm>
          <a:prstGeom prst="rect">
            <a:avLst/>
          </a:prstGeom>
          <a:noFill/>
          <a:ln/>
        </p:spPr>
        <p:txBody>
          <a:bodyPr wrap="square" rtlCol="0" anchor="t"/>
          <a:lstStyle/>
          <a:p>
            <a:pPr marL="0" indent="0" algn="ctr">
              <a:buNone/>
            </a:pPr>
            <a:r>
              <a:rPr lang="en-US" sz="1100" dirty="0">
                <a:solidFill>
                  <a:srgbClr val="1E293B"/>
                </a:solidFill>
                <a:latin typeface="Times New Roman" panose="02020603050405020304" pitchFamily="18" charset="0"/>
                <a:ea typeface="Calibri" pitchFamily="34" charset="-122"/>
                <a:cs typeface="Times New Roman" panose="02020603050405020304" pitchFamily="18" charset="0"/>
              </a:rPr>
              <a:t>Memuat gambar dengan image_dataset_from_directory(), ukuran 224×224 piksel, batch size 32.</a:t>
            </a:r>
            <a:endParaRPr lang="en-US" sz="1100" dirty="0">
              <a:latin typeface="Times New Roman" panose="02020603050405020304" pitchFamily="18" charset="0"/>
              <a:cs typeface="Times New Roman" panose="02020603050405020304" pitchFamily="18" charset="0"/>
            </a:endParaRPr>
          </a:p>
        </p:txBody>
      </p:sp>
      <p:sp>
        <p:nvSpPr>
          <p:cNvPr id="8" name="Text 5"/>
          <p:cNvSpPr/>
          <p:nvPr/>
        </p:nvSpPr>
        <p:spPr>
          <a:xfrm>
            <a:off x="2926080" y="2514600"/>
            <a:ext cx="411480" cy="548640"/>
          </a:xfrm>
          <a:prstGeom prst="rect">
            <a:avLst/>
          </a:prstGeom>
          <a:noFill/>
          <a:ln/>
        </p:spPr>
        <p:txBody>
          <a:bodyPr wrap="square" rtlCol="0" anchor="ctr"/>
          <a:lstStyle/>
          <a:p>
            <a:pPr marL="0" indent="0" algn="ctr">
              <a:buNone/>
            </a:pPr>
            <a:r>
              <a:rPr lang="en-US" sz="2600" b="1" dirty="0">
                <a:solidFill>
                  <a:srgbClr val="F96167"/>
                </a:solidFill>
                <a:latin typeface="Calibri" pitchFamily="34" charset="0"/>
                <a:ea typeface="Calibri" pitchFamily="34" charset="-122"/>
                <a:cs typeface="Calibri" pitchFamily="34" charset="-120"/>
              </a:rPr>
              <a:t>→</a:t>
            </a:r>
            <a:endParaRPr lang="en-US" sz="2600" dirty="0"/>
          </a:p>
        </p:txBody>
      </p:sp>
      <p:sp>
        <p:nvSpPr>
          <p:cNvPr id="9" name="Shape 6"/>
          <p:cNvSpPr/>
          <p:nvPr/>
        </p:nvSpPr>
        <p:spPr>
          <a:xfrm>
            <a:off x="3337560" y="1463040"/>
            <a:ext cx="2468880" cy="2651760"/>
          </a:xfrm>
          <a:prstGeom prst="roundRect">
            <a:avLst>
              <a:gd name="adj" fmla="val 2963"/>
            </a:avLst>
          </a:prstGeom>
          <a:solidFill>
            <a:srgbClr val="EEF1FA"/>
          </a:solidFill>
          <a:ln/>
          <a:effectLst>
            <a:outerShdw blurRad="76200" dist="25400" dir="2700000" algn="bl" rotWithShape="0">
              <a:srgbClr val="000000">
                <a:alpha val="10000"/>
              </a:srgbClr>
            </a:outerShdw>
          </a:effectLst>
        </p:spPr>
      </p:sp>
      <p:sp>
        <p:nvSpPr>
          <p:cNvPr id="10" name="Shape 7"/>
          <p:cNvSpPr/>
          <p:nvPr/>
        </p:nvSpPr>
        <p:spPr>
          <a:xfrm>
            <a:off x="4297680" y="1691640"/>
            <a:ext cx="548640" cy="548640"/>
          </a:xfrm>
          <a:prstGeom prst="ellipse">
            <a:avLst/>
          </a:prstGeom>
          <a:solidFill>
            <a:srgbClr val="2F3C7E"/>
          </a:solidFill>
          <a:ln/>
        </p:spPr>
      </p:sp>
      <p:pic>
        <p:nvPicPr>
          <p:cNvPr id="11" name="Image 1" descr="preencoded.png"/>
          <p:cNvPicPr>
            <a:picLocks noChangeAspect="1"/>
          </p:cNvPicPr>
          <p:nvPr/>
        </p:nvPicPr>
        <p:blipFill>
          <a:blip r:embed="rId4"/>
          <a:stretch>
            <a:fillRect/>
          </a:stretch>
        </p:blipFill>
        <p:spPr>
          <a:xfrm>
            <a:off x="4421124" y="1815084"/>
            <a:ext cx="301752" cy="301752"/>
          </a:xfrm>
          <a:prstGeom prst="rect">
            <a:avLst/>
          </a:prstGeom>
        </p:spPr>
      </p:pic>
      <p:sp>
        <p:nvSpPr>
          <p:cNvPr id="12" name="Text 8"/>
          <p:cNvSpPr/>
          <p:nvPr/>
        </p:nvSpPr>
        <p:spPr>
          <a:xfrm>
            <a:off x="3337560" y="2377440"/>
            <a:ext cx="2468880" cy="411480"/>
          </a:xfrm>
          <a:prstGeom prst="rect">
            <a:avLst/>
          </a:prstGeom>
          <a:noFill/>
          <a:ln/>
        </p:spPr>
        <p:txBody>
          <a:bodyPr wrap="square" rtlCol="0" anchor="ctr"/>
          <a:lstStyle/>
          <a:p>
            <a:pPr marL="0" indent="0" algn="ctr">
              <a:buNone/>
            </a:pPr>
            <a:r>
              <a:rPr lang="en-US" sz="1500" b="1" dirty="0">
                <a:solidFill>
                  <a:srgbClr val="2F3C7E"/>
                </a:solidFill>
                <a:latin typeface="Cambria" pitchFamily="34" charset="0"/>
                <a:ea typeface="Cambria" pitchFamily="34" charset="-122"/>
                <a:cs typeface="Cambria" pitchFamily="34" charset="-120"/>
              </a:rPr>
              <a:t>Normalisasi</a:t>
            </a:r>
            <a:endParaRPr lang="en-US" sz="1500" dirty="0"/>
          </a:p>
        </p:txBody>
      </p:sp>
      <p:sp>
        <p:nvSpPr>
          <p:cNvPr id="13" name="Text 9"/>
          <p:cNvSpPr/>
          <p:nvPr/>
        </p:nvSpPr>
        <p:spPr>
          <a:xfrm>
            <a:off x="3474720" y="2834640"/>
            <a:ext cx="2194560" cy="1188720"/>
          </a:xfrm>
          <a:prstGeom prst="rect">
            <a:avLst/>
          </a:prstGeom>
          <a:noFill/>
          <a:ln/>
        </p:spPr>
        <p:txBody>
          <a:bodyPr wrap="square" rtlCol="0" anchor="t"/>
          <a:lstStyle/>
          <a:p>
            <a:pPr marL="0" indent="0" algn="ctr">
              <a:buNone/>
            </a:pPr>
            <a:r>
              <a:rPr lang="en-US" sz="1100" dirty="0">
                <a:solidFill>
                  <a:srgbClr val="1E293B"/>
                </a:solidFill>
                <a:latin typeface="Times New Roman" panose="02020603050405020304" pitchFamily="18" charset="0"/>
                <a:ea typeface="Calibri" pitchFamily="34" charset="-122"/>
                <a:cs typeface="Times New Roman" panose="02020603050405020304" pitchFamily="18" charset="0"/>
              </a:rPr>
              <a:t>Rescaling(1./255) - nilai piksel diskalakan dari 0-255 menjadi rentang 0-1.</a:t>
            </a:r>
            <a:endParaRPr lang="en-US" sz="1100" dirty="0">
              <a:latin typeface="Times New Roman" panose="02020603050405020304" pitchFamily="18" charset="0"/>
              <a:cs typeface="Times New Roman" panose="02020603050405020304" pitchFamily="18" charset="0"/>
            </a:endParaRPr>
          </a:p>
        </p:txBody>
      </p:sp>
      <p:sp>
        <p:nvSpPr>
          <p:cNvPr id="14" name="Text 10"/>
          <p:cNvSpPr/>
          <p:nvPr/>
        </p:nvSpPr>
        <p:spPr>
          <a:xfrm>
            <a:off x="5806440" y="2514600"/>
            <a:ext cx="411480" cy="548640"/>
          </a:xfrm>
          <a:prstGeom prst="rect">
            <a:avLst/>
          </a:prstGeom>
          <a:noFill/>
          <a:ln/>
        </p:spPr>
        <p:txBody>
          <a:bodyPr wrap="square" rtlCol="0" anchor="ctr"/>
          <a:lstStyle/>
          <a:p>
            <a:pPr marL="0" indent="0" algn="ctr">
              <a:buNone/>
            </a:pPr>
            <a:r>
              <a:rPr lang="en-US" sz="2600" b="1" dirty="0">
                <a:solidFill>
                  <a:srgbClr val="F96167"/>
                </a:solidFill>
                <a:latin typeface="Calibri" pitchFamily="34" charset="0"/>
                <a:ea typeface="Calibri" pitchFamily="34" charset="-122"/>
                <a:cs typeface="Calibri" pitchFamily="34" charset="-120"/>
              </a:rPr>
              <a:t>→</a:t>
            </a:r>
            <a:endParaRPr lang="en-US" sz="2600" dirty="0"/>
          </a:p>
        </p:txBody>
      </p:sp>
      <p:sp>
        <p:nvSpPr>
          <p:cNvPr id="15" name="Shape 11"/>
          <p:cNvSpPr/>
          <p:nvPr/>
        </p:nvSpPr>
        <p:spPr>
          <a:xfrm>
            <a:off x="6217920" y="1463040"/>
            <a:ext cx="2468880" cy="2651760"/>
          </a:xfrm>
          <a:prstGeom prst="roundRect">
            <a:avLst>
              <a:gd name="adj" fmla="val 2963"/>
            </a:avLst>
          </a:prstGeom>
          <a:solidFill>
            <a:srgbClr val="EEF1FA"/>
          </a:solidFill>
          <a:ln/>
          <a:effectLst>
            <a:outerShdw blurRad="76200" dist="25400" dir="2700000" algn="bl" rotWithShape="0">
              <a:srgbClr val="000000">
                <a:alpha val="10000"/>
              </a:srgbClr>
            </a:outerShdw>
          </a:effectLst>
        </p:spPr>
      </p:sp>
      <p:sp>
        <p:nvSpPr>
          <p:cNvPr id="16" name="Shape 12"/>
          <p:cNvSpPr/>
          <p:nvPr/>
        </p:nvSpPr>
        <p:spPr>
          <a:xfrm>
            <a:off x="7178040" y="1691640"/>
            <a:ext cx="548640" cy="548640"/>
          </a:xfrm>
          <a:prstGeom prst="ellipse">
            <a:avLst/>
          </a:prstGeom>
          <a:solidFill>
            <a:srgbClr val="2F3C7E"/>
          </a:solidFill>
          <a:ln/>
        </p:spPr>
      </p:sp>
      <p:pic>
        <p:nvPicPr>
          <p:cNvPr id="17" name="Image 2" descr="preencoded.png"/>
          <p:cNvPicPr>
            <a:picLocks noChangeAspect="1"/>
          </p:cNvPicPr>
          <p:nvPr/>
        </p:nvPicPr>
        <p:blipFill>
          <a:blip r:embed="rId5"/>
          <a:stretch>
            <a:fillRect/>
          </a:stretch>
        </p:blipFill>
        <p:spPr>
          <a:xfrm>
            <a:off x="7301484" y="1815084"/>
            <a:ext cx="301752" cy="301752"/>
          </a:xfrm>
          <a:prstGeom prst="rect">
            <a:avLst/>
          </a:prstGeom>
        </p:spPr>
      </p:pic>
      <p:sp>
        <p:nvSpPr>
          <p:cNvPr id="18" name="Text 13"/>
          <p:cNvSpPr/>
          <p:nvPr/>
        </p:nvSpPr>
        <p:spPr>
          <a:xfrm>
            <a:off x="6217920" y="2377440"/>
            <a:ext cx="2468880" cy="411480"/>
          </a:xfrm>
          <a:prstGeom prst="rect">
            <a:avLst/>
          </a:prstGeom>
          <a:noFill/>
          <a:ln/>
        </p:spPr>
        <p:txBody>
          <a:bodyPr wrap="square" rtlCol="0" anchor="ctr"/>
          <a:lstStyle/>
          <a:p>
            <a:pPr marL="0" indent="0" algn="ctr">
              <a:buNone/>
            </a:pPr>
            <a:r>
              <a:rPr lang="en-US" sz="1500" b="1" dirty="0">
                <a:solidFill>
                  <a:srgbClr val="2F3C7E"/>
                </a:solidFill>
                <a:latin typeface="Cambria" pitchFamily="34" charset="0"/>
                <a:ea typeface="Cambria" pitchFamily="34" charset="-122"/>
                <a:cs typeface="Cambria" pitchFamily="34" charset="-120"/>
              </a:rPr>
              <a:t>Split Data</a:t>
            </a:r>
            <a:endParaRPr lang="en-US" sz="1500" dirty="0"/>
          </a:p>
        </p:txBody>
      </p:sp>
      <p:sp>
        <p:nvSpPr>
          <p:cNvPr id="19" name="Text 14"/>
          <p:cNvSpPr/>
          <p:nvPr/>
        </p:nvSpPr>
        <p:spPr>
          <a:xfrm>
            <a:off x="6355080" y="2834640"/>
            <a:ext cx="2194560" cy="1188720"/>
          </a:xfrm>
          <a:prstGeom prst="rect">
            <a:avLst/>
          </a:prstGeom>
          <a:noFill/>
          <a:ln/>
        </p:spPr>
        <p:txBody>
          <a:bodyPr wrap="square" rtlCol="0" anchor="t"/>
          <a:lstStyle/>
          <a:p>
            <a:pPr marL="0" indent="0" algn="l">
              <a:buNone/>
            </a:pPr>
            <a:r>
              <a:rPr lang="en-US" sz="1100" dirty="0">
                <a:solidFill>
                  <a:srgbClr val="1E293B"/>
                </a:solidFill>
                <a:latin typeface="Calibri" pitchFamily="34" charset="0"/>
                <a:ea typeface="Calibri" pitchFamily="34" charset="-122"/>
                <a:cs typeface="Calibri" pitchFamily="34" charset="-120"/>
              </a:rPr>
              <a:t>Pembagian 80% data latih (8 batch ≈ 256 gambar) dan 20% data uji (2 batch ≈ 44 gambar).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640080"/>
          </a:xfrm>
          <a:prstGeom prst="rect">
            <a:avLst/>
          </a:prstGeom>
          <a:noFill/>
          <a:ln/>
        </p:spPr>
        <p:txBody>
          <a:bodyPr wrap="square" rtlCol="0" anchor="ctr"/>
          <a:lstStyle/>
          <a:p>
            <a:pPr marL="0" indent="0">
              <a:buNone/>
            </a:pPr>
            <a:r>
              <a:rPr lang="en-US" sz="3200" b="1" dirty="0">
                <a:solidFill>
                  <a:srgbClr val="2F3C7E"/>
                </a:solidFill>
                <a:latin typeface="Cambria" pitchFamily="34" charset="0"/>
                <a:ea typeface="Cambria" pitchFamily="34" charset="-122"/>
                <a:cs typeface="Cambria" pitchFamily="34" charset="-120"/>
              </a:rPr>
              <a:t>Arsitektur Model CNN</a:t>
            </a:r>
            <a:endParaRPr lang="en-US" sz="3200" dirty="0"/>
          </a:p>
        </p:txBody>
      </p:sp>
      <p:sp>
        <p:nvSpPr>
          <p:cNvPr id="3" name="Shape 1"/>
          <p:cNvSpPr/>
          <p:nvPr/>
        </p:nvSpPr>
        <p:spPr>
          <a:xfrm>
            <a:off x="548640" y="1051560"/>
            <a:ext cx="4754880" cy="329184"/>
          </a:xfrm>
          <a:prstGeom prst="roundRect">
            <a:avLst>
              <a:gd name="adj" fmla="val 13889"/>
            </a:avLst>
          </a:prstGeom>
          <a:solidFill>
            <a:srgbClr val="EEF1FA"/>
          </a:solidFill>
          <a:ln/>
        </p:spPr>
      </p:sp>
      <p:sp>
        <p:nvSpPr>
          <p:cNvPr id="4" name="Text 2"/>
          <p:cNvSpPr/>
          <p:nvPr/>
        </p:nvSpPr>
        <p:spPr>
          <a:xfrm>
            <a:off x="685800" y="1051560"/>
            <a:ext cx="4480560" cy="329184"/>
          </a:xfrm>
          <a:prstGeom prst="rect">
            <a:avLst/>
          </a:prstGeom>
          <a:noFill/>
          <a:ln/>
        </p:spPr>
        <p:txBody>
          <a:bodyPr wrap="square" lIns="0" tIns="0" rIns="0" bIns="0" rtlCol="0" anchor="ctr"/>
          <a:lstStyle/>
          <a:p>
            <a:pPr marL="0" indent="0" algn="l">
              <a:buNone/>
            </a:pPr>
            <a:r>
              <a:rPr lang="en-US" sz="1150" b="1" dirty="0">
                <a:solidFill>
                  <a:srgbClr val="2F3C7E"/>
                </a:solidFill>
                <a:latin typeface="Calibri" pitchFamily="34" charset="0"/>
                <a:ea typeface="Calibri" pitchFamily="34" charset="-122"/>
                <a:cs typeface="Calibri" pitchFamily="34" charset="-120"/>
              </a:rPr>
              <a:t>Input  -  224 × 224 × 3</a:t>
            </a:r>
            <a:endParaRPr lang="en-US" sz="1150" dirty="0"/>
          </a:p>
        </p:txBody>
      </p:sp>
      <p:sp>
        <p:nvSpPr>
          <p:cNvPr id="5" name="Shape 3"/>
          <p:cNvSpPr/>
          <p:nvPr/>
        </p:nvSpPr>
        <p:spPr>
          <a:xfrm>
            <a:off x="548640" y="1426464"/>
            <a:ext cx="4526280" cy="329184"/>
          </a:xfrm>
          <a:prstGeom prst="roundRect">
            <a:avLst>
              <a:gd name="adj" fmla="val 13889"/>
            </a:avLst>
          </a:prstGeom>
          <a:solidFill>
            <a:srgbClr val="2F3C7E"/>
          </a:solidFill>
          <a:ln/>
        </p:spPr>
      </p:sp>
      <p:sp>
        <p:nvSpPr>
          <p:cNvPr id="6" name="Text 4"/>
          <p:cNvSpPr/>
          <p:nvPr/>
        </p:nvSpPr>
        <p:spPr>
          <a:xfrm>
            <a:off x="685800" y="1426464"/>
            <a:ext cx="4251960" cy="32918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Conv2D  32 filter (3×3)  -  ReLU</a:t>
            </a:r>
            <a:endParaRPr lang="en-US" sz="1150" dirty="0"/>
          </a:p>
        </p:txBody>
      </p:sp>
      <p:sp>
        <p:nvSpPr>
          <p:cNvPr id="7" name="Shape 5"/>
          <p:cNvSpPr/>
          <p:nvPr/>
        </p:nvSpPr>
        <p:spPr>
          <a:xfrm>
            <a:off x="548640" y="1801368"/>
            <a:ext cx="4297680" cy="329184"/>
          </a:xfrm>
          <a:prstGeom prst="roundRect">
            <a:avLst>
              <a:gd name="adj" fmla="val 13889"/>
            </a:avLst>
          </a:prstGeom>
          <a:solidFill>
            <a:srgbClr val="F4B942"/>
          </a:solidFill>
          <a:ln/>
        </p:spPr>
      </p:sp>
      <p:sp>
        <p:nvSpPr>
          <p:cNvPr id="8" name="Text 6"/>
          <p:cNvSpPr/>
          <p:nvPr/>
        </p:nvSpPr>
        <p:spPr>
          <a:xfrm>
            <a:off x="685800" y="1801368"/>
            <a:ext cx="4023360" cy="329184"/>
          </a:xfrm>
          <a:prstGeom prst="rect">
            <a:avLst/>
          </a:prstGeom>
          <a:noFill/>
          <a:ln/>
        </p:spPr>
        <p:txBody>
          <a:bodyPr wrap="square" lIns="0" tIns="0" rIns="0" bIns="0" rtlCol="0" anchor="ctr"/>
          <a:lstStyle/>
          <a:p>
            <a:pPr marL="0" indent="0" algn="l">
              <a:buNone/>
            </a:pPr>
            <a:r>
              <a:rPr lang="en-US" sz="1150" b="1" dirty="0">
                <a:solidFill>
                  <a:srgbClr val="2F3C7E"/>
                </a:solidFill>
                <a:latin typeface="Calibri" pitchFamily="34" charset="0"/>
                <a:ea typeface="Calibri" pitchFamily="34" charset="-122"/>
                <a:cs typeface="Calibri" pitchFamily="34" charset="-120"/>
              </a:rPr>
              <a:t>MaxPooling2D</a:t>
            </a:r>
            <a:endParaRPr lang="en-US" sz="1150" dirty="0"/>
          </a:p>
        </p:txBody>
      </p:sp>
      <p:sp>
        <p:nvSpPr>
          <p:cNvPr id="9" name="Shape 7"/>
          <p:cNvSpPr/>
          <p:nvPr/>
        </p:nvSpPr>
        <p:spPr>
          <a:xfrm>
            <a:off x="548640" y="2176272"/>
            <a:ext cx="4069080" cy="329184"/>
          </a:xfrm>
          <a:prstGeom prst="roundRect">
            <a:avLst>
              <a:gd name="adj" fmla="val 13889"/>
            </a:avLst>
          </a:prstGeom>
          <a:solidFill>
            <a:srgbClr val="2F3C7E"/>
          </a:solidFill>
          <a:ln/>
        </p:spPr>
      </p:sp>
      <p:sp>
        <p:nvSpPr>
          <p:cNvPr id="10" name="Text 8"/>
          <p:cNvSpPr/>
          <p:nvPr/>
        </p:nvSpPr>
        <p:spPr>
          <a:xfrm>
            <a:off x="685800" y="2176272"/>
            <a:ext cx="3794760" cy="32918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Conv2D  64 filter (3×3)  -  ReLU</a:t>
            </a:r>
            <a:endParaRPr lang="en-US" sz="1150" dirty="0"/>
          </a:p>
        </p:txBody>
      </p:sp>
      <p:sp>
        <p:nvSpPr>
          <p:cNvPr id="11" name="Shape 9"/>
          <p:cNvSpPr/>
          <p:nvPr/>
        </p:nvSpPr>
        <p:spPr>
          <a:xfrm>
            <a:off x="548640" y="2551176"/>
            <a:ext cx="3840480" cy="329184"/>
          </a:xfrm>
          <a:prstGeom prst="roundRect">
            <a:avLst>
              <a:gd name="adj" fmla="val 13889"/>
            </a:avLst>
          </a:prstGeom>
          <a:solidFill>
            <a:srgbClr val="F4B942"/>
          </a:solidFill>
          <a:ln/>
        </p:spPr>
      </p:sp>
      <p:sp>
        <p:nvSpPr>
          <p:cNvPr id="12" name="Text 10"/>
          <p:cNvSpPr/>
          <p:nvPr/>
        </p:nvSpPr>
        <p:spPr>
          <a:xfrm>
            <a:off x="685800" y="2551176"/>
            <a:ext cx="3566160" cy="329184"/>
          </a:xfrm>
          <a:prstGeom prst="rect">
            <a:avLst/>
          </a:prstGeom>
          <a:noFill/>
          <a:ln/>
        </p:spPr>
        <p:txBody>
          <a:bodyPr wrap="square" lIns="0" tIns="0" rIns="0" bIns="0" rtlCol="0" anchor="ctr"/>
          <a:lstStyle/>
          <a:p>
            <a:pPr marL="0" indent="0" algn="l">
              <a:buNone/>
            </a:pPr>
            <a:r>
              <a:rPr lang="en-US" sz="1150" b="1" dirty="0">
                <a:solidFill>
                  <a:srgbClr val="2F3C7E"/>
                </a:solidFill>
                <a:latin typeface="Calibri" pitchFamily="34" charset="0"/>
                <a:ea typeface="Calibri" pitchFamily="34" charset="-122"/>
                <a:cs typeface="Calibri" pitchFamily="34" charset="-120"/>
              </a:rPr>
              <a:t>MaxPooling2D</a:t>
            </a:r>
            <a:endParaRPr lang="en-US" sz="1150" dirty="0"/>
          </a:p>
        </p:txBody>
      </p:sp>
      <p:sp>
        <p:nvSpPr>
          <p:cNvPr id="13" name="Shape 11"/>
          <p:cNvSpPr/>
          <p:nvPr/>
        </p:nvSpPr>
        <p:spPr>
          <a:xfrm>
            <a:off x="548640" y="2926080"/>
            <a:ext cx="3611880" cy="329184"/>
          </a:xfrm>
          <a:prstGeom prst="roundRect">
            <a:avLst>
              <a:gd name="adj" fmla="val 13889"/>
            </a:avLst>
          </a:prstGeom>
          <a:solidFill>
            <a:srgbClr val="2F3C7E"/>
          </a:solidFill>
          <a:ln/>
        </p:spPr>
      </p:sp>
      <p:sp>
        <p:nvSpPr>
          <p:cNvPr id="14" name="Text 12"/>
          <p:cNvSpPr/>
          <p:nvPr/>
        </p:nvSpPr>
        <p:spPr>
          <a:xfrm>
            <a:off x="685800" y="2926080"/>
            <a:ext cx="3337560" cy="32918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Conv2D  128 filter (3×3)  -  ReLU</a:t>
            </a:r>
            <a:endParaRPr lang="en-US" sz="1150" dirty="0"/>
          </a:p>
        </p:txBody>
      </p:sp>
      <p:sp>
        <p:nvSpPr>
          <p:cNvPr id="15" name="Shape 13"/>
          <p:cNvSpPr/>
          <p:nvPr/>
        </p:nvSpPr>
        <p:spPr>
          <a:xfrm>
            <a:off x="548640" y="3300984"/>
            <a:ext cx="3383280" cy="329184"/>
          </a:xfrm>
          <a:prstGeom prst="roundRect">
            <a:avLst>
              <a:gd name="adj" fmla="val 13889"/>
            </a:avLst>
          </a:prstGeom>
          <a:solidFill>
            <a:srgbClr val="F4B942"/>
          </a:solidFill>
          <a:ln/>
        </p:spPr>
      </p:sp>
      <p:sp>
        <p:nvSpPr>
          <p:cNvPr id="16" name="Text 14"/>
          <p:cNvSpPr/>
          <p:nvPr/>
        </p:nvSpPr>
        <p:spPr>
          <a:xfrm>
            <a:off x="685800" y="3300984"/>
            <a:ext cx="3108960" cy="329184"/>
          </a:xfrm>
          <a:prstGeom prst="rect">
            <a:avLst/>
          </a:prstGeom>
          <a:noFill/>
          <a:ln/>
        </p:spPr>
        <p:txBody>
          <a:bodyPr wrap="square" lIns="0" tIns="0" rIns="0" bIns="0" rtlCol="0" anchor="ctr"/>
          <a:lstStyle/>
          <a:p>
            <a:pPr marL="0" indent="0" algn="l">
              <a:buNone/>
            </a:pPr>
            <a:r>
              <a:rPr lang="en-US" sz="1150" b="1" dirty="0">
                <a:solidFill>
                  <a:srgbClr val="2F3C7E"/>
                </a:solidFill>
                <a:latin typeface="Calibri" pitchFamily="34" charset="0"/>
                <a:ea typeface="Calibri" pitchFamily="34" charset="-122"/>
                <a:cs typeface="Calibri" pitchFamily="34" charset="-120"/>
              </a:rPr>
              <a:t>MaxPooling2D</a:t>
            </a:r>
            <a:endParaRPr lang="en-US" sz="1150" dirty="0"/>
          </a:p>
        </p:txBody>
      </p:sp>
      <p:sp>
        <p:nvSpPr>
          <p:cNvPr id="17" name="Shape 15"/>
          <p:cNvSpPr/>
          <p:nvPr/>
        </p:nvSpPr>
        <p:spPr>
          <a:xfrm>
            <a:off x="548640" y="3675888"/>
            <a:ext cx="3154680" cy="329184"/>
          </a:xfrm>
          <a:prstGeom prst="roundRect">
            <a:avLst>
              <a:gd name="adj" fmla="val 13889"/>
            </a:avLst>
          </a:prstGeom>
          <a:solidFill>
            <a:srgbClr val="F96167"/>
          </a:solidFill>
          <a:ln/>
        </p:spPr>
      </p:sp>
      <p:sp>
        <p:nvSpPr>
          <p:cNvPr id="18" name="Text 16"/>
          <p:cNvSpPr/>
          <p:nvPr/>
        </p:nvSpPr>
        <p:spPr>
          <a:xfrm>
            <a:off x="685800" y="3675888"/>
            <a:ext cx="2880360" cy="32918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Flatten  (86.528 unit)</a:t>
            </a:r>
            <a:endParaRPr lang="en-US" sz="1150" dirty="0"/>
          </a:p>
        </p:txBody>
      </p:sp>
      <p:sp>
        <p:nvSpPr>
          <p:cNvPr id="19" name="Shape 17"/>
          <p:cNvSpPr/>
          <p:nvPr/>
        </p:nvSpPr>
        <p:spPr>
          <a:xfrm>
            <a:off x="548640" y="4050792"/>
            <a:ext cx="2926080" cy="329184"/>
          </a:xfrm>
          <a:prstGeom prst="roundRect">
            <a:avLst>
              <a:gd name="adj" fmla="val 13889"/>
            </a:avLst>
          </a:prstGeom>
          <a:solidFill>
            <a:srgbClr val="2F3C7E"/>
          </a:solidFill>
          <a:ln/>
        </p:spPr>
      </p:sp>
      <p:sp>
        <p:nvSpPr>
          <p:cNvPr id="20" name="Text 18"/>
          <p:cNvSpPr/>
          <p:nvPr/>
        </p:nvSpPr>
        <p:spPr>
          <a:xfrm>
            <a:off x="685800" y="4050792"/>
            <a:ext cx="2651760" cy="32918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Dense  128 unit  -  ReLU</a:t>
            </a:r>
            <a:endParaRPr lang="en-US" sz="1150" dirty="0"/>
          </a:p>
        </p:txBody>
      </p:sp>
      <p:sp>
        <p:nvSpPr>
          <p:cNvPr id="21" name="Shape 19"/>
          <p:cNvSpPr/>
          <p:nvPr/>
        </p:nvSpPr>
        <p:spPr>
          <a:xfrm>
            <a:off x="548640" y="4425696"/>
            <a:ext cx="2697480" cy="329184"/>
          </a:xfrm>
          <a:prstGeom prst="roundRect">
            <a:avLst>
              <a:gd name="adj" fmla="val 13889"/>
            </a:avLst>
          </a:prstGeom>
          <a:solidFill>
            <a:srgbClr val="F96167"/>
          </a:solidFill>
          <a:ln/>
        </p:spPr>
      </p:sp>
      <p:sp>
        <p:nvSpPr>
          <p:cNvPr id="22" name="Text 20"/>
          <p:cNvSpPr/>
          <p:nvPr/>
        </p:nvSpPr>
        <p:spPr>
          <a:xfrm>
            <a:off x="685800" y="4425696"/>
            <a:ext cx="2423160" cy="32918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Dense  4 unit  -  Softmax (Output)</a:t>
            </a:r>
            <a:endParaRPr lang="en-US" sz="1150" dirty="0"/>
          </a:p>
        </p:txBody>
      </p:sp>
      <p:sp>
        <p:nvSpPr>
          <p:cNvPr id="23" name="Shape 21"/>
          <p:cNvSpPr/>
          <p:nvPr/>
        </p:nvSpPr>
        <p:spPr>
          <a:xfrm>
            <a:off x="5669280" y="1051560"/>
            <a:ext cx="2926080" cy="1463040"/>
          </a:xfrm>
          <a:prstGeom prst="roundRect">
            <a:avLst>
              <a:gd name="adj" fmla="val 5000"/>
            </a:avLst>
          </a:prstGeom>
          <a:solidFill>
            <a:srgbClr val="EEF1FA"/>
          </a:solidFill>
          <a:ln/>
          <a:effectLst>
            <a:outerShdw blurRad="76200" dist="25400" dir="2700000" algn="bl" rotWithShape="0">
              <a:srgbClr val="000000">
                <a:alpha val="10000"/>
              </a:srgbClr>
            </a:outerShdw>
          </a:effectLst>
        </p:spPr>
      </p:sp>
      <p:sp>
        <p:nvSpPr>
          <p:cNvPr id="24" name="Text 22"/>
          <p:cNvSpPr/>
          <p:nvPr/>
        </p:nvSpPr>
        <p:spPr>
          <a:xfrm>
            <a:off x="5669280" y="1188720"/>
            <a:ext cx="2926080" cy="365760"/>
          </a:xfrm>
          <a:prstGeom prst="rect">
            <a:avLst/>
          </a:prstGeom>
          <a:noFill/>
          <a:ln/>
        </p:spPr>
        <p:txBody>
          <a:bodyPr wrap="square" rtlCol="0" anchor="ctr"/>
          <a:lstStyle/>
          <a:p>
            <a:pPr marL="0" indent="0" algn="ctr">
              <a:buNone/>
            </a:pPr>
            <a:r>
              <a:rPr lang="en-US" sz="1300" dirty="0">
                <a:solidFill>
                  <a:srgbClr val="2F3C7E"/>
                </a:solidFill>
                <a:latin typeface="Times New Roman" panose="02020603050405020304" pitchFamily="18" charset="0"/>
                <a:ea typeface="Calibri" pitchFamily="34" charset="-122"/>
                <a:cs typeface="Times New Roman" panose="02020603050405020304" pitchFamily="18" charset="0"/>
              </a:rPr>
              <a:t>Total Parameter</a:t>
            </a:r>
            <a:endParaRPr lang="en-US" sz="1300" dirty="0">
              <a:latin typeface="Times New Roman" panose="02020603050405020304" pitchFamily="18" charset="0"/>
              <a:cs typeface="Times New Roman" panose="02020603050405020304" pitchFamily="18" charset="0"/>
            </a:endParaRPr>
          </a:p>
        </p:txBody>
      </p:sp>
      <p:sp>
        <p:nvSpPr>
          <p:cNvPr id="25" name="Text 23"/>
          <p:cNvSpPr/>
          <p:nvPr/>
        </p:nvSpPr>
        <p:spPr>
          <a:xfrm>
            <a:off x="5669280" y="1554480"/>
            <a:ext cx="2926080" cy="640080"/>
          </a:xfrm>
          <a:prstGeom prst="rect">
            <a:avLst/>
          </a:prstGeom>
          <a:noFill/>
          <a:ln/>
        </p:spPr>
        <p:txBody>
          <a:bodyPr wrap="square" rtlCol="0" anchor="ctr"/>
          <a:lstStyle/>
          <a:p>
            <a:pPr marL="0" indent="0" algn="ctr">
              <a:buNone/>
            </a:pPr>
            <a:r>
              <a:rPr lang="en-US" sz="2800" b="1" dirty="0">
                <a:solidFill>
                  <a:srgbClr val="F96167"/>
                </a:solidFill>
                <a:latin typeface="Cambria" pitchFamily="34" charset="0"/>
                <a:ea typeface="Cambria" pitchFamily="34" charset="-122"/>
                <a:cs typeface="Cambria" pitchFamily="34" charset="-120"/>
              </a:rPr>
              <a:t>11.169.476</a:t>
            </a:r>
            <a:endParaRPr lang="en-US" sz="2800" dirty="0"/>
          </a:p>
        </p:txBody>
      </p:sp>
      <p:sp>
        <p:nvSpPr>
          <p:cNvPr id="26" name="Shape 24"/>
          <p:cNvSpPr/>
          <p:nvPr/>
        </p:nvSpPr>
        <p:spPr>
          <a:xfrm>
            <a:off x="5669280" y="2697480"/>
            <a:ext cx="2926080" cy="960120"/>
          </a:xfrm>
          <a:prstGeom prst="roundRect">
            <a:avLst>
              <a:gd name="adj" fmla="val 7619"/>
            </a:avLst>
          </a:prstGeom>
          <a:solidFill>
            <a:srgbClr val="EEF1FA"/>
          </a:solidFill>
          <a:ln/>
          <a:effectLst>
            <a:outerShdw blurRad="76200" dist="25400" dir="2700000" algn="bl" rotWithShape="0">
              <a:srgbClr val="000000">
                <a:alpha val="10000"/>
              </a:srgbClr>
            </a:outerShdw>
          </a:effectLst>
        </p:spPr>
      </p:sp>
      <p:sp>
        <p:nvSpPr>
          <p:cNvPr id="27" name="Text 25"/>
          <p:cNvSpPr/>
          <p:nvPr/>
        </p:nvSpPr>
        <p:spPr>
          <a:xfrm>
            <a:off x="5852160" y="2697480"/>
            <a:ext cx="2560320" cy="960120"/>
          </a:xfrm>
          <a:prstGeom prst="rect">
            <a:avLst/>
          </a:prstGeom>
          <a:noFill/>
          <a:ln/>
        </p:spPr>
        <p:txBody>
          <a:bodyPr wrap="square" rtlCol="0" anchor="ctr"/>
          <a:lstStyle/>
          <a:p>
            <a:pPr marL="0" indent="0">
              <a:buNone/>
            </a:pPr>
            <a:r>
              <a:rPr lang="en-US" sz="1300" b="1" dirty="0">
                <a:solidFill>
                  <a:srgbClr val="2F3C7E"/>
                </a:solidFill>
                <a:latin typeface="Times New Roman" panose="02020603050405020304" pitchFamily="18" charset="0"/>
                <a:ea typeface="Calibri" pitchFamily="34" charset="-122"/>
                <a:cs typeface="Times New Roman" panose="02020603050405020304" pitchFamily="18" charset="0"/>
              </a:rPr>
              <a:t>Input Shape</a:t>
            </a:r>
            <a:endParaRPr lang="en-US" sz="1300" dirty="0">
              <a:latin typeface="Times New Roman" panose="02020603050405020304" pitchFamily="18" charset="0"/>
              <a:cs typeface="Times New Roman" panose="02020603050405020304" pitchFamily="18" charset="0"/>
            </a:endParaRPr>
          </a:p>
          <a:p>
            <a:pPr marL="0" indent="0">
              <a:buNone/>
            </a:pP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224 × 224 × 3 (RGB)</a:t>
            </a:r>
            <a:endParaRPr lang="en-US" sz="1300" dirty="0">
              <a:latin typeface="Times New Roman" panose="02020603050405020304" pitchFamily="18" charset="0"/>
              <a:cs typeface="Times New Roman" panose="02020603050405020304" pitchFamily="18" charset="0"/>
            </a:endParaRPr>
          </a:p>
        </p:txBody>
      </p:sp>
      <p:sp>
        <p:nvSpPr>
          <p:cNvPr id="28" name="Shape 26"/>
          <p:cNvSpPr/>
          <p:nvPr/>
        </p:nvSpPr>
        <p:spPr>
          <a:xfrm>
            <a:off x="5669280" y="3794760"/>
            <a:ext cx="2926080" cy="960120"/>
          </a:xfrm>
          <a:prstGeom prst="roundRect">
            <a:avLst>
              <a:gd name="adj" fmla="val 7619"/>
            </a:avLst>
          </a:prstGeom>
          <a:solidFill>
            <a:srgbClr val="EEF1FA"/>
          </a:solidFill>
          <a:ln/>
          <a:effectLst>
            <a:outerShdw blurRad="76200" dist="25400" dir="2700000" algn="bl" rotWithShape="0">
              <a:srgbClr val="000000">
                <a:alpha val="10000"/>
              </a:srgbClr>
            </a:outerShdw>
          </a:effectLst>
        </p:spPr>
      </p:sp>
      <p:sp>
        <p:nvSpPr>
          <p:cNvPr id="29" name="Text 27"/>
          <p:cNvSpPr/>
          <p:nvPr/>
        </p:nvSpPr>
        <p:spPr>
          <a:xfrm>
            <a:off x="5852160" y="3794760"/>
            <a:ext cx="2560320" cy="960120"/>
          </a:xfrm>
          <a:prstGeom prst="rect">
            <a:avLst/>
          </a:prstGeom>
          <a:noFill/>
          <a:ln/>
        </p:spPr>
        <p:txBody>
          <a:bodyPr wrap="square" rtlCol="0" anchor="ctr"/>
          <a:lstStyle/>
          <a:p>
            <a:pPr marL="0" indent="0">
              <a:buNone/>
            </a:pPr>
            <a:r>
              <a:rPr lang="en-US" sz="1300" b="1" dirty="0">
                <a:solidFill>
                  <a:srgbClr val="2F3C7E"/>
                </a:solidFill>
                <a:latin typeface="Times New Roman" panose="02020603050405020304" pitchFamily="18" charset="0"/>
                <a:ea typeface="Calibri" pitchFamily="34" charset="-122"/>
                <a:cs typeface="Times New Roman" panose="02020603050405020304" pitchFamily="18" charset="0"/>
              </a:rPr>
              <a:t>Output</a:t>
            </a:r>
            <a:endParaRPr lang="en-US" sz="1300" dirty="0">
              <a:latin typeface="Times New Roman" panose="02020603050405020304" pitchFamily="18" charset="0"/>
              <a:cs typeface="Times New Roman" panose="02020603050405020304" pitchFamily="18" charset="0"/>
            </a:endParaRPr>
          </a:p>
          <a:p>
            <a:pPr marL="0" indent="0">
              <a:buNone/>
            </a:pPr>
            <a:r>
              <a:rPr lang="en-US" sz="1300" dirty="0">
                <a:solidFill>
                  <a:srgbClr val="1E293B"/>
                </a:solidFill>
                <a:latin typeface="Times New Roman" panose="02020603050405020304" pitchFamily="18" charset="0"/>
                <a:ea typeface="Calibri" pitchFamily="34" charset="-122"/>
                <a:cs typeface="Times New Roman" panose="02020603050405020304" pitchFamily="18" charset="0"/>
              </a:rPr>
              <a:t>4 kelas (Softmax)</a:t>
            </a:r>
            <a:endParaRPr lang="en-US" sz="1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640080"/>
          </a:xfrm>
          <a:prstGeom prst="rect">
            <a:avLst/>
          </a:prstGeom>
          <a:noFill/>
          <a:ln/>
        </p:spPr>
        <p:txBody>
          <a:bodyPr wrap="square" rtlCol="0" anchor="ctr"/>
          <a:lstStyle/>
          <a:p>
            <a:pPr marL="0" indent="0">
              <a:buNone/>
            </a:pPr>
            <a:r>
              <a:rPr lang="en-US" sz="3200" b="1" dirty="0">
                <a:solidFill>
                  <a:srgbClr val="2F3C7E"/>
                </a:solidFill>
                <a:latin typeface="Cambria" pitchFamily="34" charset="0"/>
                <a:ea typeface="Cambria" pitchFamily="34" charset="-122"/>
                <a:cs typeface="Cambria" pitchFamily="34" charset="-120"/>
              </a:rPr>
              <a:t>Konfigurasi &amp; Proses Training</a:t>
            </a:r>
            <a:endParaRPr lang="en-US" sz="3200" dirty="0"/>
          </a:p>
        </p:txBody>
      </p:sp>
      <p:sp>
        <p:nvSpPr>
          <p:cNvPr id="3" name="Shape 1"/>
          <p:cNvSpPr/>
          <p:nvPr/>
        </p:nvSpPr>
        <p:spPr>
          <a:xfrm>
            <a:off x="548640" y="1143000"/>
            <a:ext cx="2468880" cy="1554480"/>
          </a:xfrm>
          <a:prstGeom prst="roundRect">
            <a:avLst>
              <a:gd name="adj" fmla="val 4706"/>
            </a:avLst>
          </a:prstGeom>
          <a:solidFill>
            <a:srgbClr val="EEF1FA"/>
          </a:solidFill>
          <a:ln/>
          <a:effectLst>
            <a:outerShdw blurRad="76200" dist="25400" dir="2700000" algn="bl" rotWithShape="0">
              <a:srgbClr val="000000">
                <a:alpha val="10000"/>
              </a:srgbClr>
            </a:outerShdw>
          </a:effectLst>
        </p:spPr>
      </p:sp>
      <p:sp>
        <p:nvSpPr>
          <p:cNvPr id="4" name="Shape 2"/>
          <p:cNvSpPr/>
          <p:nvPr/>
        </p:nvSpPr>
        <p:spPr>
          <a:xfrm>
            <a:off x="731520" y="1325880"/>
            <a:ext cx="457200" cy="457200"/>
          </a:xfrm>
          <a:prstGeom prst="ellipse">
            <a:avLst/>
          </a:prstGeom>
          <a:solidFill>
            <a:srgbClr val="F4B942"/>
          </a:solidFill>
          <a:ln/>
        </p:spPr>
      </p:sp>
      <p:pic>
        <p:nvPicPr>
          <p:cNvPr id="5" name="Image 0" descr="preencoded.png"/>
          <p:cNvPicPr>
            <a:picLocks noChangeAspect="1"/>
          </p:cNvPicPr>
          <p:nvPr/>
        </p:nvPicPr>
        <p:blipFill>
          <a:blip r:embed="rId3"/>
          <a:stretch>
            <a:fillRect/>
          </a:stretch>
        </p:blipFill>
        <p:spPr>
          <a:xfrm>
            <a:off x="834390" y="1428750"/>
            <a:ext cx="251460" cy="251460"/>
          </a:xfrm>
          <a:prstGeom prst="rect">
            <a:avLst/>
          </a:prstGeom>
        </p:spPr>
      </p:pic>
      <p:sp>
        <p:nvSpPr>
          <p:cNvPr id="6" name="Text 3"/>
          <p:cNvSpPr/>
          <p:nvPr/>
        </p:nvSpPr>
        <p:spPr>
          <a:xfrm>
            <a:off x="1325880" y="1307592"/>
            <a:ext cx="1600200" cy="502920"/>
          </a:xfrm>
          <a:prstGeom prst="rect">
            <a:avLst/>
          </a:prstGeom>
          <a:noFill/>
          <a:ln/>
        </p:spPr>
        <p:txBody>
          <a:bodyPr wrap="square" rtlCol="0" anchor="ctr"/>
          <a:lstStyle/>
          <a:p>
            <a:pPr marL="0" indent="0" algn="l">
              <a:buNone/>
            </a:pPr>
            <a:r>
              <a:rPr lang="en-US" sz="1250" dirty="0">
                <a:solidFill>
                  <a:srgbClr val="64748B"/>
                </a:solidFill>
                <a:latin typeface="Times New Roman" panose="02020603050405020304" pitchFamily="18" charset="0"/>
                <a:ea typeface="Calibri" pitchFamily="34" charset="-122"/>
                <a:cs typeface="Times New Roman" panose="02020603050405020304" pitchFamily="18" charset="0"/>
              </a:rPr>
              <a:t>Optimizer</a:t>
            </a:r>
            <a:endParaRPr lang="en-US" sz="1250" dirty="0">
              <a:latin typeface="Times New Roman" panose="02020603050405020304" pitchFamily="18" charset="0"/>
              <a:cs typeface="Times New Roman" panose="02020603050405020304" pitchFamily="18" charset="0"/>
            </a:endParaRPr>
          </a:p>
        </p:txBody>
      </p:sp>
      <p:sp>
        <p:nvSpPr>
          <p:cNvPr id="7" name="Text 4"/>
          <p:cNvSpPr/>
          <p:nvPr/>
        </p:nvSpPr>
        <p:spPr>
          <a:xfrm>
            <a:off x="731520" y="1920240"/>
            <a:ext cx="2103120" cy="640080"/>
          </a:xfrm>
          <a:prstGeom prst="rect">
            <a:avLst/>
          </a:prstGeom>
          <a:noFill/>
          <a:ln/>
        </p:spPr>
        <p:txBody>
          <a:bodyPr wrap="square" rtlCol="0" anchor="t"/>
          <a:lstStyle/>
          <a:p>
            <a:pPr marL="0" indent="0" algn="l">
              <a:buNone/>
            </a:pPr>
            <a:r>
              <a:rPr lang="en-US" sz="1450" b="1" dirty="0">
                <a:solidFill>
                  <a:srgbClr val="2F3C7E"/>
                </a:solidFill>
                <a:latin typeface="Cambria" pitchFamily="34" charset="0"/>
                <a:ea typeface="Cambria" pitchFamily="34" charset="-122"/>
                <a:cs typeface="Cambria" pitchFamily="34" charset="-120"/>
              </a:rPr>
              <a:t>Adam</a:t>
            </a:r>
            <a:endParaRPr lang="en-US" sz="1450" dirty="0"/>
          </a:p>
        </p:txBody>
      </p:sp>
      <p:sp>
        <p:nvSpPr>
          <p:cNvPr id="8" name="Shape 5"/>
          <p:cNvSpPr/>
          <p:nvPr/>
        </p:nvSpPr>
        <p:spPr>
          <a:xfrm>
            <a:off x="3337560" y="1143000"/>
            <a:ext cx="2468880" cy="1554480"/>
          </a:xfrm>
          <a:prstGeom prst="roundRect">
            <a:avLst>
              <a:gd name="adj" fmla="val 4706"/>
            </a:avLst>
          </a:prstGeom>
          <a:solidFill>
            <a:srgbClr val="EEF1FA"/>
          </a:solidFill>
          <a:ln/>
          <a:effectLst>
            <a:outerShdw blurRad="76200" dist="25400" dir="2700000" algn="bl" rotWithShape="0">
              <a:srgbClr val="000000">
                <a:alpha val="10000"/>
              </a:srgbClr>
            </a:outerShdw>
          </a:effectLst>
        </p:spPr>
      </p:sp>
      <p:sp>
        <p:nvSpPr>
          <p:cNvPr id="9" name="Shape 6"/>
          <p:cNvSpPr/>
          <p:nvPr/>
        </p:nvSpPr>
        <p:spPr>
          <a:xfrm>
            <a:off x="3520440" y="1325880"/>
            <a:ext cx="457200" cy="457200"/>
          </a:xfrm>
          <a:prstGeom prst="ellipse">
            <a:avLst/>
          </a:prstGeom>
          <a:solidFill>
            <a:srgbClr val="F4B942"/>
          </a:solidFill>
          <a:ln/>
        </p:spPr>
      </p:sp>
      <p:pic>
        <p:nvPicPr>
          <p:cNvPr id="10" name="Image 1" descr="preencoded.png"/>
          <p:cNvPicPr>
            <a:picLocks noChangeAspect="1"/>
          </p:cNvPicPr>
          <p:nvPr/>
        </p:nvPicPr>
        <p:blipFill>
          <a:blip r:embed="rId4"/>
          <a:stretch>
            <a:fillRect/>
          </a:stretch>
        </p:blipFill>
        <p:spPr>
          <a:xfrm>
            <a:off x="3623310" y="1428750"/>
            <a:ext cx="251460" cy="251460"/>
          </a:xfrm>
          <a:prstGeom prst="rect">
            <a:avLst/>
          </a:prstGeom>
        </p:spPr>
      </p:pic>
      <p:sp>
        <p:nvSpPr>
          <p:cNvPr id="11" name="Text 7"/>
          <p:cNvSpPr/>
          <p:nvPr/>
        </p:nvSpPr>
        <p:spPr>
          <a:xfrm>
            <a:off x="4114800" y="1307592"/>
            <a:ext cx="1600200" cy="502920"/>
          </a:xfrm>
          <a:prstGeom prst="rect">
            <a:avLst/>
          </a:prstGeom>
          <a:noFill/>
          <a:ln/>
        </p:spPr>
        <p:txBody>
          <a:bodyPr wrap="square" rtlCol="0" anchor="ctr"/>
          <a:lstStyle/>
          <a:p>
            <a:pPr marL="0" indent="0" algn="l">
              <a:buNone/>
            </a:pPr>
            <a:r>
              <a:rPr lang="en-US" sz="1250" dirty="0">
                <a:solidFill>
                  <a:srgbClr val="64748B"/>
                </a:solidFill>
                <a:latin typeface="Times New Roman" panose="02020603050405020304" pitchFamily="18" charset="0"/>
                <a:ea typeface="Calibri" pitchFamily="34" charset="-122"/>
                <a:cs typeface="Times New Roman" panose="02020603050405020304" pitchFamily="18" charset="0"/>
              </a:rPr>
              <a:t>Loss Function</a:t>
            </a:r>
            <a:endParaRPr lang="en-US" sz="1250" dirty="0">
              <a:latin typeface="Times New Roman" panose="02020603050405020304" pitchFamily="18" charset="0"/>
              <a:cs typeface="Times New Roman" panose="02020603050405020304" pitchFamily="18" charset="0"/>
            </a:endParaRPr>
          </a:p>
        </p:txBody>
      </p:sp>
      <p:sp>
        <p:nvSpPr>
          <p:cNvPr id="12" name="Text 8"/>
          <p:cNvSpPr/>
          <p:nvPr/>
        </p:nvSpPr>
        <p:spPr>
          <a:xfrm>
            <a:off x="3520440" y="1920240"/>
            <a:ext cx="2103120" cy="640080"/>
          </a:xfrm>
          <a:prstGeom prst="rect">
            <a:avLst/>
          </a:prstGeom>
          <a:noFill/>
          <a:ln/>
        </p:spPr>
        <p:txBody>
          <a:bodyPr wrap="square" rtlCol="0" anchor="t"/>
          <a:lstStyle/>
          <a:p>
            <a:pPr marL="0" indent="0" algn="l">
              <a:buNone/>
            </a:pPr>
            <a:r>
              <a:rPr lang="en-US" sz="1450" b="1" dirty="0">
                <a:solidFill>
                  <a:srgbClr val="2F3C7E"/>
                </a:solidFill>
                <a:latin typeface="Cambria" pitchFamily="34" charset="0"/>
                <a:ea typeface="Cambria" pitchFamily="34" charset="-122"/>
                <a:cs typeface="Cambria" pitchFamily="34" charset="-120"/>
              </a:rPr>
              <a:t>Sparse Categorical Crossentropy</a:t>
            </a:r>
            <a:endParaRPr lang="en-US" sz="1450" dirty="0"/>
          </a:p>
        </p:txBody>
      </p:sp>
      <p:sp>
        <p:nvSpPr>
          <p:cNvPr id="13" name="Shape 9"/>
          <p:cNvSpPr/>
          <p:nvPr/>
        </p:nvSpPr>
        <p:spPr>
          <a:xfrm>
            <a:off x="6126480" y="1143000"/>
            <a:ext cx="2468880" cy="1554480"/>
          </a:xfrm>
          <a:prstGeom prst="roundRect">
            <a:avLst>
              <a:gd name="adj" fmla="val 4706"/>
            </a:avLst>
          </a:prstGeom>
          <a:solidFill>
            <a:srgbClr val="EEF1FA"/>
          </a:solidFill>
          <a:ln/>
          <a:effectLst>
            <a:outerShdw blurRad="76200" dist="25400" dir="2700000" algn="bl" rotWithShape="0">
              <a:srgbClr val="000000">
                <a:alpha val="10000"/>
              </a:srgbClr>
            </a:outerShdw>
          </a:effectLst>
        </p:spPr>
      </p:sp>
      <p:sp>
        <p:nvSpPr>
          <p:cNvPr id="14" name="Shape 10"/>
          <p:cNvSpPr/>
          <p:nvPr/>
        </p:nvSpPr>
        <p:spPr>
          <a:xfrm>
            <a:off x="6309360" y="1325880"/>
            <a:ext cx="457200" cy="457200"/>
          </a:xfrm>
          <a:prstGeom prst="ellipse">
            <a:avLst/>
          </a:prstGeom>
          <a:solidFill>
            <a:srgbClr val="F4B942"/>
          </a:solidFill>
          <a:ln/>
        </p:spPr>
      </p:sp>
      <p:pic>
        <p:nvPicPr>
          <p:cNvPr id="15" name="Image 2" descr="preencoded.png"/>
          <p:cNvPicPr>
            <a:picLocks noChangeAspect="1"/>
          </p:cNvPicPr>
          <p:nvPr/>
        </p:nvPicPr>
        <p:blipFill>
          <a:blip r:embed="rId5"/>
          <a:stretch>
            <a:fillRect/>
          </a:stretch>
        </p:blipFill>
        <p:spPr>
          <a:xfrm>
            <a:off x="6412230" y="1428750"/>
            <a:ext cx="251460" cy="251460"/>
          </a:xfrm>
          <a:prstGeom prst="rect">
            <a:avLst/>
          </a:prstGeom>
        </p:spPr>
      </p:pic>
      <p:sp>
        <p:nvSpPr>
          <p:cNvPr id="16" name="Text 11"/>
          <p:cNvSpPr/>
          <p:nvPr/>
        </p:nvSpPr>
        <p:spPr>
          <a:xfrm>
            <a:off x="6903720" y="1307592"/>
            <a:ext cx="1600200" cy="502920"/>
          </a:xfrm>
          <a:prstGeom prst="rect">
            <a:avLst/>
          </a:prstGeom>
          <a:noFill/>
          <a:ln/>
        </p:spPr>
        <p:txBody>
          <a:bodyPr wrap="square" rtlCol="0" anchor="ctr"/>
          <a:lstStyle/>
          <a:p>
            <a:pPr marL="0" indent="0" algn="l">
              <a:buNone/>
            </a:pPr>
            <a:r>
              <a:rPr lang="en-US" sz="1250" dirty="0">
                <a:solidFill>
                  <a:srgbClr val="64748B"/>
                </a:solidFill>
                <a:latin typeface="Times New Roman" panose="02020603050405020304" pitchFamily="18" charset="0"/>
                <a:ea typeface="Calibri" pitchFamily="34" charset="-122"/>
                <a:cs typeface="Times New Roman" panose="02020603050405020304" pitchFamily="18" charset="0"/>
              </a:rPr>
              <a:t>Jumlah Epoch</a:t>
            </a:r>
            <a:endParaRPr lang="en-US" sz="1250" dirty="0">
              <a:latin typeface="Times New Roman" panose="02020603050405020304" pitchFamily="18" charset="0"/>
              <a:cs typeface="Times New Roman" panose="02020603050405020304" pitchFamily="18" charset="0"/>
            </a:endParaRPr>
          </a:p>
        </p:txBody>
      </p:sp>
      <p:sp>
        <p:nvSpPr>
          <p:cNvPr id="17" name="Text 12"/>
          <p:cNvSpPr/>
          <p:nvPr/>
        </p:nvSpPr>
        <p:spPr>
          <a:xfrm>
            <a:off x="6309360" y="1920240"/>
            <a:ext cx="2103120" cy="640080"/>
          </a:xfrm>
          <a:prstGeom prst="rect">
            <a:avLst/>
          </a:prstGeom>
          <a:noFill/>
          <a:ln/>
        </p:spPr>
        <p:txBody>
          <a:bodyPr wrap="square" rtlCol="0" anchor="t"/>
          <a:lstStyle/>
          <a:p>
            <a:pPr marL="0" indent="0" algn="l">
              <a:buNone/>
            </a:pPr>
            <a:r>
              <a:rPr lang="en-US" sz="1450" b="1" dirty="0">
                <a:solidFill>
                  <a:srgbClr val="2F3C7E"/>
                </a:solidFill>
                <a:latin typeface="Cambria" pitchFamily="34" charset="0"/>
                <a:ea typeface="Cambria" pitchFamily="34" charset="-122"/>
                <a:cs typeface="Cambria" pitchFamily="34" charset="-120"/>
              </a:rPr>
              <a:t>10</a:t>
            </a:r>
            <a:endParaRPr lang="en-US" sz="1450" dirty="0"/>
          </a:p>
        </p:txBody>
      </p:sp>
      <p:sp>
        <p:nvSpPr>
          <p:cNvPr id="18" name="Shape 13"/>
          <p:cNvSpPr/>
          <p:nvPr/>
        </p:nvSpPr>
        <p:spPr>
          <a:xfrm>
            <a:off x="548640" y="2880360"/>
            <a:ext cx="2468880" cy="1554480"/>
          </a:xfrm>
          <a:prstGeom prst="roundRect">
            <a:avLst>
              <a:gd name="adj" fmla="val 4706"/>
            </a:avLst>
          </a:prstGeom>
          <a:solidFill>
            <a:srgbClr val="EEF1FA"/>
          </a:solidFill>
          <a:ln/>
          <a:effectLst>
            <a:outerShdw blurRad="76200" dist="25400" dir="2700000" algn="bl" rotWithShape="0">
              <a:srgbClr val="000000">
                <a:alpha val="10000"/>
              </a:srgbClr>
            </a:outerShdw>
          </a:effectLst>
        </p:spPr>
      </p:sp>
      <p:sp>
        <p:nvSpPr>
          <p:cNvPr id="19" name="Shape 14"/>
          <p:cNvSpPr/>
          <p:nvPr/>
        </p:nvSpPr>
        <p:spPr>
          <a:xfrm>
            <a:off x="731520" y="3063240"/>
            <a:ext cx="457200" cy="457200"/>
          </a:xfrm>
          <a:prstGeom prst="ellipse">
            <a:avLst/>
          </a:prstGeom>
          <a:solidFill>
            <a:srgbClr val="F4B942"/>
          </a:solidFill>
          <a:ln/>
        </p:spPr>
      </p:sp>
      <p:pic>
        <p:nvPicPr>
          <p:cNvPr id="20" name="Image 3" descr="preencoded.png"/>
          <p:cNvPicPr>
            <a:picLocks noChangeAspect="1"/>
          </p:cNvPicPr>
          <p:nvPr/>
        </p:nvPicPr>
        <p:blipFill>
          <a:blip r:embed="rId6"/>
          <a:stretch>
            <a:fillRect/>
          </a:stretch>
        </p:blipFill>
        <p:spPr>
          <a:xfrm>
            <a:off x="834390" y="3166110"/>
            <a:ext cx="251460" cy="251460"/>
          </a:xfrm>
          <a:prstGeom prst="rect">
            <a:avLst/>
          </a:prstGeom>
        </p:spPr>
      </p:pic>
      <p:sp>
        <p:nvSpPr>
          <p:cNvPr id="21" name="Text 15"/>
          <p:cNvSpPr/>
          <p:nvPr/>
        </p:nvSpPr>
        <p:spPr>
          <a:xfrm>
            <a:off x="1325880" y="3044952"/>
            <a:ext cx="1600200" cy="502920"/>
          </a:xfrm>
          <a:prstGeom prst="rect">
            <a:avLst/>
          </a:prstGeom>
          <a:noFill/>
          <a:ln/>
        </p:spPr>
        <p:txBody>
          <a:bodyPr wrap="square" rtlCol="0" anchor="ctr"/>
          <a:lstStyle/>
          <a:p>
            <a:pPr marL="0" indent="0" algn="l">
              <a:buNone/>
            </a:pPr>
            <a:r>
              <a:rPr lang="en-US" sz="1250" dirty="0">
                <a:solidFill>
                  <a:srgbClr val="64748B"/>
                </a:solidFill>
                <a:latin typeface="Times New Roman" panose="02020603050405020304" pitchFamily="18" charset="0"/>
                <a:ea typeface="Calibri" pitchFamily="34" charset="-122"/>
                <a:cs typeface="Times New Roman" panose="02020603050405020304" pitchFamily="18" charset="0"/>
              </a:rPr>
              <a:t>Batch Size</a:t>
            </a:r>
            <a:endParaRPr lang="en-US" sz="1250" dirty="0">
              <a:latin typeface="Times New Roman" panose="02020603050405020304" pitchFamily="18" charset="0"/>
              <a:cs typeface="Times New Roman" panose="02020603050405020304" pitchFamily="18" charset="0"/>
            </a:endParaRPr>
          </a:p>
        </p:txBody>
      </p:sp>
      <p:sp>
        <p:nvSpPr>
          <p:cNvPr id="22" name="Text 16"/>
          <p:cNvSpPr/>
          <p:nvPr/>
        </p:nvSpPr>
        <p:spPr>
          <a:xfrm>
            <a:off x="731520" y="3657600"/>
            <a:ext cx="2103120" cy="640080"/>
          </a:xfrm>
          <a:prstGeom prst="rect">
            <a:avLst/>
          </a:prstGeom>
          <a:noFill/>
          <a:ln/>
        </p:spPr>
        <p:txBody>
          <a:bodyPr wrap="square" rtlCol="0" anchor="t"/>
          <a:lstStyle/>
          <a:p>
            <a:pPr marL="0" indent="0" algn="l">
              <a:buNone/>
            </a:pPr>
            <a:r>
              <a:rPr lang="en-US" sz="1450" b="1" dirty="0">
                <a:solidFill>
                  <a:srgbClr val="2F3C7E"/>
                </a:solidFill>
                <a:latin typeface="Cambria" pitchFamily="34" charset="0"/>
                <a:ea typeface="Cambria" pitchFamily="34" charset="-122"/>
                <a:cs typeface="Cambria" pitchFamily="34" charset="-120"/>
              </a:rPr>
              <a:t>32</a:t>
            </a:r>
            <a:endParaRPr lang="en-US" sz="1450" dirty="0"/>
          </a:p>
        </p:txBody>
      </p:sp>
      <p:sp>
        <p:nvSpPr>
          <p:cNvPr id="23" name="Shape 17"/>
          <p:cNvSpPr/>
          <p:nvPr/>
        </p:nvSpPr>
        <p:spPr>
          <a:xfrm>
            <a:off x="3337560" y="2880360"/>
            <a:ext cx="2468880" cy="1554480"/>
          </a:xfrm>
          <a:prstGeom prst="roundRect">
            <a:avLst>
              <a:gd name="adj" fmla="val 4706"/>
            </a:avLst>
          </a:prstGeom>
          <a:solidFill>
            <a:srgbClr val="EEF1FA"/>
          </a:solidFill>
          <a:ln/>
          <a:effectLst>
            <a:outerShdw blurRad="76200" dist="25400" dir="2700000" algn="bl" rotWithShape="0">
              <a:srgbClr val="000000">
                <a:alpha val="10000"/>
              </a:srgbClr>
            </a:outerShdw>
          </a:effectLst>
        </p:spPr>
      </p:sp>
      <p:sp>
        <p:nvSpPr>
          <p:cNvPr id="24" name="Shape 18"/>
          <p:cNvSpPr/>
          <p:nvPr/>
        </p:nvSpPr>
        <p:spPr>
          <a:xfrm>
            <a:off x="3520440" y="3063240"/>
            <a:ext cx="457200" cy="457200"/>
          </a:xfrm>
          <a:prstGeom prst="ellipse">
            <a:avLst/>
          </a:prstGeom>
          <a:solidFill>
            <a:srgbClr val="F4B942"/>
          </a:solidFill>
          <a:ln/>
        </p:spPr>
      </p:sp>
      <p:pic>
        <p:nvPicPr>
          <p:cNvPr id="25" name="Image 4" descr="preencoded.png"/>
          <p:cNvPicPr>
            <a:picLocks noChangeAspect="1"/>
          </p:cNvPicPr>
          <p:nvPr/>
        </p:nvPicPr>
        <p:blipFill>
          <a:blip r:embed="rId7"/>
          <a:stretch>
            <a:fillRect/>
          </a:stretch>
        </p:blipFill>
        <p:spPr>
          <a:xfrm>
            <a:off x="3623310" y="3166110"/>
            <a:ext cx="251460" cy="251460"/>
          </a:xfrm>
          <a:prstGeom prst="rect">
            <a:avLst/>
          </a:prstGeom>
        </p:spPr>
      </p:pic>
      <p:sp>
        <p:nvSpPr>
          <p:cNvPr id="26" name="Text 19"/>
          <p:cNvSpPr/>
          <p:nvPr/>
        </p:nvSpPr>
        <p:spPr>
          <a:xfrm>
            <a:off x="4114800" y="3044952"/>
            <a:ext cx="1600200" cy="502920"/>
          </a:xfrm>
          <a:prstGeom prst="rect">
            <a:avLst/>
          </a:prstGeom>
          <a:noFill/>
          <a:ln/>
        </p:spPr>
        <p:txBody>
          <a:bodyPr wrap="square" rtlCol="0" anchor="ctr"/>
          <a:lstStyle/>
          <a:p>
            <a:pPr marL="0" indent="0" algn="l">
              <a:buNone/>
            </a:pPr>
            <a:r>
              <a:rPr lang="en-US" sz="1250" dirty="0">
                <a:solidFill>
                  <a:srgbClr val="64748B"/>
                </a:solidFill>
                <a:latin typeface="Times New Roman" panose="02020603050405020304" pitchFamily="18" charset="0"/>
                <a:ea typeface="Calibri" pitchFamily="34" charset="-122"/>
                <a:cs typeface="Times New Roman" panose="02020603050405020304" pitchFamily="18" charset="0"/>
              </a:rPr>
              <a:t>Data Training</a:t>
            </a:r>
            <a:endParaRPr lang="en-US" sz="1250" dirty="0">
              <a:latin typeface="Times New Roman" panose="02020603050405020304" pitchFamily="18" charset="0"/>
              <a:cs typeface="Times New Roman" panose="02020603050405020304" pitchFamily="18" charset="0"/>
            </a:endParaRPr>
          </a:p>
        </p:txBody>
      </p:sp>
      <p:sp>
        <p:nvSpPr>
          <p:cNvPr id="27" name="Text 20"/>
          <p:cNvSpPr/>
          <p:nvPr/>
        </p:nvSpPr>
        <p:spPr>
          <a:xfrm>
            <a:off x="3520440" y="3657600"/>
            <a:ext cx="2103120" cy="640080"/>
          </a:xfrm>
          <a:prstGeom prst="rect">
            <a:avLst/>
          </a:prstGeom>
          <a:noFill/>
          <a:ln/>
        </p:spPr>
        <p:txBody>
          <a:bodyPr wrap="square" rtlCol="0" anchor="t"/>
          <a:lstStyle/>
          <a:p>
            <a:pPr marL="0" indent="0" algn="l">
              <a:buNone/>
            </a:pPr>
            <a:r>
              <a:rPr lang="en-US" sz="1450" b="1" dirty="0">
                <a:solidFill>
                  <a:srgbClr val="2F3C7E"/>
                </a:solidFill>
                <a:latin typeface="Cambria" pitchFamily="34" charset="0"/>
                <a:ea typeface="Cambria" pitchFamily="34" charset="-122"/>
                <a:cs typeface="Cambria" pitchFamily="34" charset="-120"/>
              </a:rPr>
              <a:t>8 batch (≈256 gambar)</a:t>
            </a:r>
            <a:endParaRPr lang="en-US" sz="1450" dirty="0"/>
          </a:p>
        </p:txBody>
      </p:sp>
      <p:sp>
        <p:nvSpPr>
          <p:cNvPr id="28" name="Shape 21"/>
          <p:cNvSpPr/>
          <p:nvPr/>
        </p:nvSpPr>
        <p:spPr>
          <a:xfrm>
            <a:off x="6126480" y="2880360"/>
            <a:ext cx="2468880" cy="1554480"/>
          </a:xfrm>
          <a:prstGeom prst="roundRect">
            <a:avLst>
              <a:gd name="adj" fmla="val 4706"/>
            </a:avLst>
          </a:prstGeom>
          <a:solidFill>
            <a:srgbClr val="EEF1FA"/>
          </a:solidFill>
          <a:ln/>
          <a:effectLst>
            <a:outerShdw blurRad="76200" dist="25400" dir="2700000" algn="bl" rotWithShape="0">
              <a:srgbClr val="000000">
                <a:alpha val="10000"/>
              </a:srgbClr>
            </a:outerShdw>
          </a:effectLst>
        </p:spPr>
      </p:sp>
      <p:sp>
        <p:nvSpPr>
          <p:cNvPr id="29" name="Shape 22"/>
          <p:cNvSpPr/>
          <p:nvPr/>
        </p:nvSpPr>
        <p:spPr>
          <a:xfrm>
            <a:off x="6309360" y="3063240"/>
            <a:ext cx="457200" cy="457200"/>
          </a:xfrm>
          <a:prstGeom prst="ellipse">
            <a:avLst/>
          </a:prstGeom>
          <a:solidFill>
            <a:srgbClr val="F4B942"/>
          </a:solidFill>
          <a:ln/>
        </p:spPr>
      </p:sp>
      <p:pic>
        <p:nvPicPr>
          <p:cNvPr id="30" name="Image 5" descr="preencoded.png"/>
          <p:cNvPicPr>
            <a:picLocks noChangeAspect="1"/>
          </p:cNvPicPr>
          <p:nvPr/>
        </p:nvPicPr>
        <p:blipFill>
          <a:blip r:embed="rId8"/>
          <a:stretch>
            <a:fillRect/>
          </a:stretch>
        </p:blipFill>
        <p:spPr>
          <a:xfrm>
            <a:off x="6412230" y="3166110"/>
            <a:ext cx="251460" cy="251460"/>
          </a:xfrm>
          <a:prstGeom prst="rect">
            <a:avLst/>
          </a:prstGeom>
        </p:spPr>
      </p:pic>
      <p:sp>
        <p:nvSpPr>
          <p:cNvPr id="31" name="Text 23"/>
          <p:cNvSpPr/>
          <p:nvPr/>
        </p:nvSpPr>
        <p:spPr>
          <a:xfrm>
            <a:off x="6903720" y="3044952"/>
            <a:ext cx="1600200" cy="502920"/>
          </a:xfrm>
          <a:prstGeom prst="rect">
            <a:avLst/>
          </a:prstGeom>
          <a:noFill/>
          <a:ln/>
        </p:spPr>
        <p:txBody>
          <a:bodyPr wrap="square" rtlCol="0" anchor="ctr"/>
          <a:lstStyle/>
          <a:p>
            <a:pPr marL="0" indent="0" algn="l">
              <a:buNone/>
            </a:pPr>
            <a:r>
              <a:rPr lang="en-US" sz="1250" dirty="0">
                <a:solidFill>
                  <a:srgbClr val="64748B"/>
                </a:solidFill>
                <a:latin typeface="Times New Roman" panose="02020603050405020304" pitchFamily="18" charset="0"/>
                <a:ea typeface="Calibri" pitchFamily="34" charset="-122"/>
                <a:cs typeface="Times New Roman" panose="02020603050405020304" pitchFamily="18" charset="0"/>
              </a:rPr>
              <a:t>Data Testing</a:t>
            </a:r>
            <a:endParaRPr lang="en-US" sz="1250" dirty="0">
              <a:latin typeface="Times New Roman" panose="02020603050405020304" pitchFamily="18" charset="0"/>
              <a:cs typeface="Times New Roman" panose="02020603050405020304" pitchFamily="18" charset="0"/>
            </a:endParaRPr>
          </a:p>
        </p:txBody>
      </p:sp>
      <p:sp>
        <p:nvSpPr>
          <p:cNvPr id="32" name="Text 24"/>
          <p:cNvSpPr/>
          <p:nvPr/>
        </p:nvSpPr>
        <p:spPr>
          <a:xfrm>
            <a:off x="6309360" y="3657600"/>
            <a:ext cx="2103120" cy="640080"/>
          </a:xfrm>
          <a:prstGeom prst="rect">
            <a:avLst/>
          </a:prstGeom>
          <a:noFill/>
          <a:ln/>
        </p:spPr>
        <p:txBody>
          <a:bodyPr wrap="square" rtlCol="0" anchor="t"/>
          <a:lstStyle/>
          <a:p>
            <a:pPr marL="0" indent="0" algn="l">
              <a:buNone/>
            </a:pPr>
            <a:r>
              <a:rPr lang="en-US" sz="1450" b="1" dirty="0">
                <a:solidFill>
                  <a:srgbClr val="2F3C7E"/>
                </a:solidFill>
                <a:latin typeface="Cambria" pitchFamily="34" charset="0"/>
                <a:ea typeface="Cambria" pitchFamily="34" charset="-122"/>
                <a:cs typeface="Cambria" pitchFamily="34" charset="-120"/>
              </a:rPr>
              <a:t>2 batch (≈44 gambar)</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640080"/>
          </a:xfrm>
          <a:prstGeom prst="rect">
            <a:avLst/>
          </a:prstGeom>
          <a:noFill/>
          <a:ln/>
        </p:spPr>
        <p:txBody>
          <a:bodyPr wrap="square" rtlCol="0" anchor="ctr"/>
          <a:lstStyle/>
          <a:p>
            <a:pPr marL="0" indent="0">
              <a:buNone/>
            </a:pPr>
            <a:r>
              <a:rPr lang="en-US" sz="3200" b="1" dirty="0">
                <a:solidFill>
                  <a:srgbClr val="2F3C7E"/>
                </a:solidFill>
                <a:latin typeface="Cambria" pitchFamily="34" charset="0"/>
                <a:ea typeface="Cambria" pitchFamily="34" charset="-122"/>
                <a:cs typeface="Cambria" pitchFamily="34" charset="-120"/>
              </a:rPr>
              <a:t>Hasil Training Model</a:t>
            </a:r>
            <a:endParaRPr lang="en-US" sz="3200" dirty="0"/>
          </a:p>
        </p:txBody>
      </p:sp>
      <p:sp>
        <p:nvSpPr>
          <p:cNvPr id="3" name="Text 1"/>
          <p:cNvSpPr/>
          <p:nvPr/>
        </p:nvSpPr>
        <p:spPr>
          <a:xfrm>
            <a:off x="457200" y="1051560"/>
            <a:ext cx="4114800" cy="365760"/>
          </a:xfrm>
          <a:prstGeom prst="rect">
            <a:avLst/>
          </a:prstGeom>
          <a:noFill/>
          <a:ln/>
        </p:spPr>
        <p:txBody>
          <a:bodyPr wrap="square" rtlCol="0" anchor="ctr"/>
          <a:lstStyle/>
          <a:p>
            <a:pPr marL="0" indent="0" algn="ctr">
              <a:buNone/>
            </a:pPr>
            <a:r>
              <a:rPr lang="en-US" sz="1600" b="1" dirty="0">
                <a:solidFill>
                  <a:srgbClr val="2F3C7E"/>
                </a:solidFill>
                <a:latin typeface="Cambria" pitchFamily="34" charset="0"/>
                <a:ea typeface="Cambria" pitchFamily="34" charset="-122"/>
                <a:cs typeface="Cambria" pitchFamily="34" charset="-120"/>
              </a:rPr>
              <a:t>Akurasi</a:t>
            </a:r>
            <a:endParaRPr lang="en-US" sz="1600" dirty="0"/>
          </a:p>
        </p:txBody>
      </p:sp>
      <p:graphicFrame>
        <p:nvGraphicFramePr>
          <p:cNvPr id="4" name="Chart 0"/>
          <p:cNvGraphicFramePr/>
          <p:nvPr/>
        </p:nvGraphicFramePr>
        <p:xfrm>
          <a:off x="365760" y="1417320"/>
          <a:ext cx="420624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4663440" y="1051560"/>
            <a:ext cx="4023360" cy="365760"/>
          </a:xfrm>
          <a:prstGeom prst="rect">
            <a:avLst/>
          </a:prstGeom>
          <a:noFill/>
          <a:ln/>
        </p:spPr>
        <p:txBody>
          <a:bodyPr wrap="square" rtlCol="0" anchor="ctr"/>
          <a:lstStyle/>
          <a:p>
            <a:pPr marL="0" indent="0" algn="ctr">
              <a:buNone/>
            </a:pPr>
            <a:r>
              <a:rPr lang="en-US" sz="1600" b="1" dirty="0">
                <a:solidFill>
                  <a:srgbClr val="2F3C7E"/>
                </a:solidFill>
                <a:latin typeface="Cambria" pitchFamily="34" charset="0"/>
                <a:ea typeface="Cambria" pitchFamily="34" charset="-122"/>
                <a:cs typeface="Cambria" pitchFamily="34" charset="-120"/>
              </a:rPr>
              <a:t>Loss</a:t>
            </a:r>
            <a:endParaRPr lang="en-US" sz="1600" dirty="0"/>
          </a:p>
        </p:txBody>
      </p:sp>
      <p:graphicFrame>
        <p:nvGraphicFramePr>
          <p:cNvPr id="6" name="Chart 1"/>
          <p:cNvGraphicFramePr/>
          <p:nvPr/>
        </p:nvGraphicFramePr>
        <p:xfrm>
          <a:off x="4572000" y="1417320"/>
          <a:ext cx="4206240" cy="338328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548640" y="4800600"/>
            <a:ext cx="8046720" cy="320040"/>
          </a:xfrm>
          <a:prstGeom prst="rect">
            <a:avLst/>
          </a:prstGeom>
          <a:noFill/>
          <a:ln/>
        </p:spPr>
        <p:txBody>
          <a:bodyPr wrap="square" rtlCol="0" anchor="ctr"/>
          <a:lstStyle/>
          <a:p>
            <a:pPr marL="0" indent="0" algn="ctr">
              <a:buNone/>
            </a:pPr>
            <a:r>
              <a:rPr lang="en-US" sz="1100" i="1" dirty="0">
                <a:solidFill>
                  <a:srgbClr val="64748B"/>
                </a:solidFill>
                <a:latin typeface="Times New Roman" panose="02020603050405020304" pitchFamily="18" charset="0"/>
                <a:ea typeface="Calibri" pitchFamily="34" charset="-122"/>
                <a:cs typeface="Times New Roman" panose="02020603050405020304" pitchFamily="18" charset="0"/>
              </a:rPr>
              <a:t>Akurasi training meningkat dari 23,44% menjadi 92,58%, dan akurasi validasi meningkat dari 18,18% menjadi 97,73% pada epoch ke-10.</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640080"/>
          </a:xfrm>
          <a:prstGeom prst="rect">
            <a:avLst/>
          </a:prstGeom>
          <a:noFill/>
          <a:ln/>
        </p:spPr>
        <p:txBody>
          <a:bodyPr wrap="square" rtlCol="0" anchor="ctr"/>
          <a:lstStyle/>
          <a:p>
            <a:pPr marL="0" indent="0">
              <a:buNone/>
            </a:pPr>
            <a:r>
              <a:rPr lang="en-US" sz="3200" b="1" dirty="0">
                <a:solidFill>
                  <a:srgbClr val="2F3C7E"/>
                </a:solidFill>
                <a:latin typeface="Cambria" pitchFamily="34" charset="0"/>
                <a:ea typeface="Cambria" pitchFamily="34" charset="-122"/>
                <a:cs typeface="Cambria" pitchFamily="34" charset="-120"/>
              </a:rPr>
              <a:t>Hasil Evaluasi Model</a:t>
            </a:r>
            <a:endParaRPr lang="en-US" sz="3200" dirty="0"/>
          </a:p>
        </p:txBody>
      </p:sp>
      <p:sp>
        <p:nvSpPr>
          <p:cNvPr id="3" name="Text 1"/>
          <p:cNvSpPr/>
          <p:nvPr/>
        </p:nvSpPr>
        <p:spPr>
          <a:xfrm>
            <a:off x="457200" y="1051560"/>
            <a:ext cx="4754880" cy="365760"/>
          </a:xfrm>
          <a:prstGeom prst="rect">
            <a:avLst/>
          </a:prstGeom>
          <a:noFill/>
          <a:ln/>
        </p:spPr>
        <p:txBody>
          <a:bodyPr wrap="square" rtlCol="0" anchor="ctr"/>
          <a:lstStyle/>
          <a:p>
            <a:pPr marL="0" indent="0">
              <a:buNone/>
            </a:pPr>
            <a:r>
              <a:rPr lang="en-US" sz="1500" b="1" dirty="0">
                <a:solidFill>
                  <a:srgbClr val="2F3C7E"/>
                </a:solidFill>
                <a:latin typeface="Cambria" pitchFamily="34" charset="0"/>
                <a:ea typeface="Cambria" pitchFamily="34" charset="-122"/>
                <a:cs typeface="Cambria" pitchFamily="34" charset="-120"/>
              </a:rPr>
              <a:t>Confusion Matrix (Data Uji)</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4754880" cy="2514600"/>
        </p:xfrm>
        <a:graphic>
          <a:graphicData uri="http://schemas.openxmlformats.org/drawingml/2006/table">
            <a:tbl>
              <a:tblPr/>
              <a:tblGrid>
                <a:gridCol w="11430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50292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Aktual \ Prediksi</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3C7E"/>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Buku</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3C7E"/>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Penghapus</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3C7E"/>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Pensil</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3C7E"/>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Pulpen</a:t>
                      </a:r>
                      <a:endParaRPr lang="en-US" sz="11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3C7E"/>
                    </a:solidFill>
                  </a:tcPr>
                </a:tc>
                <a:extLst>
                  <a:ext uri="{0D108BD9-81ED-4DB2-BD59-A6C34878D82A}">
                    <a16:rowId xmlns:a16="http://schemas.microsoft.com/office/drawing/2014/main" val="10000"/>
                  </a:ext>
                </a:extLst>
              </a:tr>
              <a:tr h="50292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Buku</a:t>
                      </a:r>
                      <a:endParaRPr lang="en-US" sz="12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3C7E"/>
                    </a:solidFill>
                  </a:tcPr>
                </a:tc>
                <a:tc>
                  <a:txBody>
                    <a:bodyPr/>
                    <a:lstStyle/>
                    <a:p>
                      <a:pPr marL="0" indent="0" algn="ctr">
                        <a:buNone/>
                      </a:pPr>
                      <a:r>
                        <a:rPr lang="en-US" sz="1300" b="1" dirty="0">
                          <a:solidFill>
                            <a:srgbClr val="2F3C7E"/>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B942"/>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A"/>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A"/>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A"/>
                    </a:solidFill>
                  </a:tcPr>
                </a:tc>
                <a:extLst>
                  <a:ext uri="{0D108BD9-81ED-4DB2-BD59-A6C34878D82A}">
                    <a16:rowId xmlns:a16="http://schemas.microsoft.com/office/drawing/2014/main" val="10001"/>
                  </a:ext>
                </a:extLst>
              </a:tr>
              <a:tr h="50292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Penghapus</a:t>
                      </a:r>
                      <a:endParaRPr lang="en-US" sz="12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3C7E"/>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A"/>
                    </a:solidFill>
                  </a:tcPr>
                </a:tc>
                <a:tc>
                  <a:txBody>
                    <a:bodyPr/>
                    <a:lstStyle/>
                    <a:p>
                      <a:pPr marL="0" indent="0" algn="ctr">
                        <a:buNone/>
                      </a:pPr>
                      <a:r>
                        <a:rPr lang="en-US" sz="1300" b="1" dirty="0">
                          <a:solidFill>
                            <a:srgbClr val="2F3C7E"/>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B942"/>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A"/>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A"/>
                    </a:solidFill>
                  </a:tcPr>
                </a:tc>
                <a:extLst>
                  <a:ext uri="{0D108BD9-81ED-4DB2-BD59-A6C34878D82A}">
                    <a16:rowId xmlns:a16="http://schemas.microsoft.com/office/drawing/2014/main" val="10002"/>
                  </a:ext>
                </a:extLst>
              </a:tr>
              <a:tr h="50292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Pensil</a:t>
                      </a:r>
                      <a:endParaRPr lang="en-US" sz="12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3C7E"/>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A"/>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A"/>
                    </a:solidFill>
                  </a:tcPr>
                </a:tc>
                <a:tc>
                  <a:txBody>
                    <a:bodyPr/>
                    <a:lstStyle/>
                    <a:p>
                      <a:pPr marL="0" indent="0" algn="ctr">
                        <a:buNone/>
                      </a:pPr>
                      <a:r>
                        <a:rPr lang="en-US" sz="1300" b="1" dirty="0">
                          <a:solidFill>
                            <a:srgbClr val="2F3C7E"/>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B942"/>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A"/>
                    </a:solidFill>
                  </a:tcPr>
                </a:tc>
                <a:extLst>
                  <a:ext uri="{0D108BD9-81ED-4DB2-BD59-A6C34878D82A}">
                    <a16:rowId xmlns:a16="http://schemas.microsoft.com/office/drawing/2014/main" val="10003"/>
                  </a:ext>
                </a:extLst>
              </a:tr>
              <a:tr h="50292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Pulpen</a:t>
                      </a:r>
                      <a:endParaRPr lang="en-US" sz="12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3C7E"/>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A"/>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A"/>
                    </a:solidFill>
                  </a:tcPr>
                </a:tc>
                <a:tc>
                  <a:txBody>
                    <a:bodyPr/>
                    <a:lstStyle/>
                    <a:p>
                      <a:pPr marL="0" indent="0" algn="ctr">
                        <a:buNone/>
                      </a:pPr>
                      <a:r>
                        <a:rPr lang="en-US" sz="1300" dirty="0">
                          <a:solidFill>
                            <a:srgbClr val="1E293B"/>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1FA"/>
                    </a:solidFill>
                  </a:tcPr>
                </a:tc>
                <a:tc>
                  <a:txBody>
                    <a:bodyPr/>
                    <a:lstStyle/>
                    <a:p>
                      <a:pPr marL="0" indent="0" algn="ctr">
                        <a:buNone/>
                      </a:pPr>
                      <a:r>
                        <a:rPr lang="en-US" sz="1300" b="1" dirty="0">
                          <a:solidFill>
                            <a:srgbClr val="2F3C7E"/>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B942"/>
                    </a:solidFill>
                  </a:tcPr>
                </a:tc>
                <a:extLst>
                  <a:ext uri="{0D108BD9-81ED-4DB2-BD59-A6C34878D82A}">
                    <a16:rowId xmlns:a16="http://schemas.microsoft.com/office/drawing/2014/main" val="10004"/>
                  </a:ext>
                </a:extLst>
              </a:tr>
            </a:tbl>
          </a:graphicData>
        </a:graphic>
      </p:graphicFrame>
      <p:sp>
        <p:nvSpPr>
          <p:cNvPr id="5" name="Text 2"/>
          <p:cNvSpPr/>
          <p:nvPr/>
        </p:nvSpPr>
        <p:spPr>
          <a:xfrm>
            <a:off x="457200" y="4114800"/>
            <a:ext cx="4754880" cy="365760"/>
          </a:xfrm>
          <a:prstGeom prst="rect">
            <a:avLst/>
          </a:prstGeom>
          <a:noFill/>
          <a:ln/>
        </p:spPr>
        <p:txBody>
          <a:bodyPr wrap="square" rtlCol="0" anchor="ctr"/>
          <a:lstStyle/>
          <a:p>
            <a:pPr marL="0" indent="0">
              <a:buNone/>
            </a:pPr>
            <a:r>
              <a:rPr lang="en-US" sz="1100" i="1" dirty="0">
                <a:solidFill>
                  <a:srgbClr val="64748B"/>
                </a:solidFill>
                <a:latin typeface="Times New Roman" panose="02020603050405020304" pitchFamily="18" charset="0"/>
                <a:ea typeface="Calibri" pitchFamily="34" charset="-122"/>
                <a:cs typeface="Times New Roman" panose="02020603050405020304" pitchFamily="18" charset="0"/>
              </a:rPr>
              <a:t>Seluruh 44 sampel data uji diklasifikasikan dengan benar (nilai diagonal).</a:t>
            </a:r>
            <a:endParaRPr lang="en-US" sz="1100" dirty="0">
              <a:latin typeface="Times New Roman" panose="02020603050405020304" pitchFamily="18" charset="0"/>
              <a:cs typeface="Times New Roman" panose="02020603050405020304" pitchFamily="18" charset="0"/>
            </a:endParaRPr>
          </a:p>
        </p:txBody>
      </p:sp>
      <p:sp>
        <p:nvSpPr>
          <p:cNvPr id="6" name="Shape 3"/>
          <p:cNvSpPr/>
          <p:nvPr/>
        </p:nvSpPr>
        <p:spPr>
          <a:xfrm>
            <a:off x="5486400" y="1188720"/>
            <a:ext cx="3108960" cy="1097280"/>
          </a:xfrm>
          <a:prstGeom prst="roundRect">
            <a:avLst>
              <a:gd name="adj" fmla="val 6667"/>
            </a:avLst>
          </a:prstGeom>
          <a:solidFill>
            <a:srgbClr val="EEF1FA"/>
          </a:solidFill>
          <a:ln/>
          <a:effectLst>
            <a:outerShdw blurRad="76200" dist="25400" dir="2700000" algn="bl" rotWithShape="0">
              <a:srgbClr val="000000">
                <a:alpha val="10000"/>
              </a:srgbClr>
            </a:outerShdw>
          </a:effectLst>
        </p:spPr>
      </p:sp>
      <p:sp>
        <p:nvSpPr>
          <p:cNvPr id="7" name="Text 4"/>
          <p:cNvSpPr/>
          <p:nvPr/>
        </p:nvSpPr>
        <p:spPr>
          <a:xfrm>
            <a:off x="5623560" y="1188720"/>
            <a:ext cx="1554480" cy="1097280"/>
          </a:xfrm>
          <a:prstGeom prst="rect">
            <a:avLst/>
          </a:prstGeom>
          <a:noFill/>
          <a:ln/>
        </p:spPr>
        <p:txBody>
          <a:bodyPr wrap="square" rtlCol="0" anchor="ctr"/>
          <a:lstStyle/>
          <a:p>
            <a:pPr algn="ctr"/>
            <a:r>
              <a:rPr lang="en-US" sz="2600" b="1" dirty="0">
                <a:solidFill>
                  <a:srgbClr val="F96167"/>
                </a:solidFill>
                <a:latin typeface="Cambria" pitchFamily="34" charset="0"/>
                <a:ea typeface="Cambria" pitchFamily="34" charset="-122"/>
                <a:cs typeface="Cambria" pitchFamily="34" charset="-120"/>
              </a:rPr>
              <a:t>9</a:t>
            </a:r>
            <a:r>
              <a:rPr lang="en-ID" sz="2800" b="1" dirty="0">
                <a:solidFill>
                  <a:srgbClr val="F96167"/>
                </a:solidFill>
                <a:latin typeface="Cambria" pitchFamily="34" charset="0"/>
                <a:ea typeface="Cambria" pitchFamily="34" charset="-122"/>
                <a:cs typeface="Cambria" pitchFamily="34" charset="-120"/>
              </a:rPr>
              <a:t>7,73</a:t>
            </a:r>
            <a:r>
              <a:rPr lang="en-US" sz="2600" b="1" dirty="0">
                <a:solidFill>
                  <a:srgbClr val="F96167"/>
                </a:solidFill>
                <a:latin typeface="Cambria" pitchFamily="34" charset="0"/>
                <a:ea typeface="Cambria" pitchFamily="34" charset="-122"/>
                <a:cs typeface="Cambria" pitchFamily="34" charset="-120"/>
              </a:rPr>
              <a:t>%</a:t>
            </a:r>
            <a:endParaRPr lang="en-US" sz="2600" dirty="0"/>
          </a:p>
        </p:txBody>
      </p:sp>
      <p:sp>
        <p:nvSpPr>
          <p:cNvPr id="8" name="Text 5"/>
          <p:cNvSpPr/>
          <p:nvPr/>
        </p:nvSpPr>
        <p:spPr>
          <a:xfrm>
            <a:off x="7109460" y="1188720"/>
            <a:ext cx="1554480" cy="1097280"/>
          </a:xfrm>
          <a:prstGeom prst="rect">
            <a:avLst/>
          </a:prstGeom>
          <a:noFill/>
          <a:ln/>
        </p:spPr>
        <p:txBody>
          <a:bodyPr wrap="square" rtlCol="0" anchor="ctr"/>
          <a:lstStyle/>
          <a:p>
            <a:pPr marL="0" indent="0" algn="l">
              <a:buNone/>
            </a:pPr>
            <a:r>
              <a:rPr lang="en-US" sz="1200" dirty="0">
                <a:solidFill>
                  <a:srgbClr val="2F3C7E"/>
                </a:solidFill>
                <a:latin typeface="Calibri" pitchFamily="34" charset="0"/>
                <a:ea typeface="Calibri" pitchFamily="34" charset="-122"/>
                <a:cs typeface="Calibri" pitchFamily="34" charset="-120"/>
              </a:rPr>
              <a:t>Akurasi Data Uji</a:t>
            </a:r>
            <a:endParaRPr lang="en-US" sz="1200" dirty="0"/>
          </a:p>
        </p:txBody>
      </p:sp>
      <p:sp>
        <p:nvSpPr>
          <p:cNvPr id="4" name="Shape 6"/>
          <p:cNvSpPr/>
          <p:nvPr/>
        </p:nvSpPr>
        <p:spPr>
          <a:xfrm>
            <a:off x="5486400" y="2423160"/>
            <a:ext cx="3108960" cy="1097280"/>
          </a:xfrm>
          <a:prstGeom prst="roundRect">
            <a:avLst>
              <a:gd name="adj" fmla="val 6667"/>
            </a:avLst>
          </a:prstGeom>
          <a:solidFill>
            <a:srgbClr val="EEF1FA"/>
          </a:solidFill>
          <a:ln/>
          <a:effectLst>
            <a:outerShdw blurRad="76200" dist="25400" dir="2700000" algn="bl" rotWithShape="0">
              <a:srgbClr val="000000">
                <a:alpha val="10000"/>
              </a:srgbClr>
            </a:outerShdw>
          </a:effectLst>
        </p:spPr>
      </p:sp>
      <p:sp>
        <p:nvSpPr>
          <p:cNvPr id="10" name="Text 7"/>
          <p:cNvSpPr/>
          <p:nvPr/>
        </p:nvSpPr>
        <p:spPr>
          <a:xfrm>
            <a:off x="5623560" y="2423160"/>
            <a:ext cx="1280160" cy="1097280"/>
          </a:xfrm>
          <a:prstGeom prst="rect">
            <a:avLst/>
          </a:prstGeom>
          <a:noFill/>
          <a:ln/>
        </p:spPr>
        <p:txBody>
          <a:bodyPr wrap="square" rtlCol="0" anchor="ctr"/>
          <a:lstStyle/>
          <a:p>
            <a:pPr marL="0" indent="0" algn="ctr">
              <a:buNone/>
            </a:pPr>
            <a:r>
              <a:rPr lang="en-US" sz="2600" b="1" dirty="0">
                <a:solidFill>
                  <a:srgbClr val="F96167"/>
                </a:solidFill>
                <a:latin typeface="Cambria" pitchFamily="34" charset="0"/>
                <a:ea typeface="Cambria" pitchFamily="34" charset="-122"/>
                <a:cs typeface="Cambria" pitchFamily="34" charset="-120"/>
              </a:rPr>
              <a:t>0,1899</a:t>
            </a:r>
            <a:endParaRPr lang="en-US" sz="2600" dirty="0"/>
          </a:p>
        </p:txBody>
      </p:sp>
      <p:sp>
        <p:nvSpPr>
          <p:cNvPr id="11" name="Text 8"/>
          <p:cNvSpPr/>
          <p:nvPr/>
        </p:nvSpPr>
        <p:spPr>
          <a:xfrm>
            <a:off x="6949440" y="2423160"/>
            <a:ext cx="1554480" cy="1097280"/>
          </a:xfrm>
          <a:prstGeom prst="rect">
            <a:avLst/>
          </a:prstGeom>
          <a:noFill/>
          <a:ln/>
        </p:spPr>
        <p:txBody>
          <a:bodyPr wrap="square" rtlCol="0" anchor="ctr"/>
          <a:lstStyle/>
          <a:p>
            <a:pPr marL="0" indent="0" algn="l">
              <a:buNone/>
            </a:pPr>
            <a:r>
              <a:rPr lang="en-US" sz="1200" dirty="0">
                <a:solidFill>
                  <a:srgbClr val="2F3C7E"/>
                </a:solidFill>
                <a:latin typeface="Calibri" pitchFamily="34" charset="0"/>
                <a:ea typeface="Calibri" pitchFamily="34" charset="-122"/>
                <a:cs typeface="Calibri" pitchFamily="34" charset="-120"/>
              </a:rPr>
              <a:t>Loss Data Uji</a:t>
            </a:r>
            <a:endParaRPr lang="en-US" sz="1200" dirty="0"/>
          </a:p>
        </p:txBody>
      </p:sp>
      <p:sp>
        <p:nvSpPr>
          <p:cNvPr id="12" name="Shape 9"/>
          <p:cNvSpPr/>
          <p:nvPr/>
        </p:nvSpPr>
        <p:spPr>
          <a:xfrm>
            <a:off x="5486400" y="3657600"/>
            <a:ext cx="3108960" cy="1097280"/>
          </a:xfrm>
          <a:prstGeom prst="roundRect">
            <a:avLst>
              <a:gd name="adj" fmla="val 6667"/>
            </a:avLst>
          </a:prstGeom>
          <a:solidFill>
            <a:srgbClr val="EEF1FA"/>
          </a:solidFill>
          <a:ln/>
          <a:effectLst>
            <a:outerShdw blurRad="76200" dist="25400" dir="2700000" algn="bl" rotWithShape="0">
              <a:srgbClr val="000000">
                <a:alpha val="10000"/>
              </a:srgbClr>
            </a:outerShdw>
          </a:effectLst>
        </p:spPr>
        <p:txBody>
          <a:bodyPr/>
          <a:lstStyle/>
          <a:p>
            <a:endParaRPr lang="en-ID" dirty="0"/>
          </a:p>
        </p:txBody>
      </p:sp>
      <p:sp>
        <p:nvSpPr>
          <p:cNvPr id="13" name="Text 10"/>
          <p:cNvSpPr/>
          <p:nvPr/>
        </p:nvSpPr>
        <p:spPr>
          <a:xfrm>
            <a:off x="5623560" y="3657600"/>
            <a:ext cx="1280160" cy="1097280"/>
          </a:xfrm>
          <a:prstGeom prst="rect">
            <a:avLst/>
          </a:prstGeom>
          <a:noFill/>
          <a:ln/>
        </p:spPr>
        <p:txBody>
          <a:bodyPr wrap="square" rtlCol="0" anchor="ctr"/>
          <a:lstStyle/>
          <a:p>
            <a:pPr marL="0" indent="0" algn="ctr">
              <a:buNone/>
            </a:pPr>
            <a:r>
              <a:rPr lang="en-US" sz="2600" b="1" dirty="0">
                <a:solidFill>
                  <a:srgbClr val="F96167"/>
                </a:solidFill>
                <a:latin typeface="Cambria" pitchFamily="34" charset="0"/>
                <a:ea typeface="Cambria" pitchFamily="34" charset="-122"/>
                <a:cs typeface="Cambria" pitchFamily="34" charset="-120"/>
              </a:rPr>
              <a:t>1.00</a:t>
            </a:r>
            <a:endParaRPr lang="en-US" sz="2600" dirty="0"/>
          </a:p>
        </p:txBody>
      </p:sp>
      <p:sp>
        <p:nvSpPr>
          <p:cNvPr id="14" name="Text 11"/>
          <p:cNvSpPr/>
          <p:nvPr/>
        </p:nvSpPr>
        <p:spPr>
          <a:xfrm>
            <a:off x="6949440" y="3657600"/>
            <a:ext cx="1554480" cy="1097280"/>
          </a:xfrm>
          <a:prstGeom prst="rect">
            <a:avLst/>
          </a:prstGeom>
          <a:noFill/>
          <a:ln/>
        </p:spPr>
        <p:txBody>
          <a:bodyPr wrap="square" rtlCol="0" anchor="ctr"/>
          <a:lstStyle/>
          <a:p>
            <a:pPr marL="0" indent="0" algn="l">
              <a:buNone/>
            </a:pPr>
            <a:r>
              <a:rPr lang="en-US" sz="1200" dirty="0">
                <a:solidFill>
                  <a:srgbClr val="2F3C7E"/>
                </a:solidFill>
                <a:latin typeface="Calibri" pitchFamily="34" charset="0"/>
                <a:ea typeface="Calibri" pitchFamily="34" charset="-122"/>
                <a:cs typeface="Calibri" pitchFamily="34" charset="-120"/>
              </a:rPr>
              <a:t>Precision / Recall / F1-Score</a:t>
            </a:r>
            <a:endParaRPr lang="en-US" sz="1200" dirty="0"/>
          </a:p>
          <a:p>
            <a:pPr marL="0" indent="0" algn="l">
              <a:buNone/>
            </a:pPr>
            <a:r>
              <a:rPr lang="en-US" sz="1200" dirty="0">
                <a:solidFill>
                  <a:srgbClr val="2F3C7E"/>
                </a:solidFill>
                <a:latin typeface="Calibri" pitchFamily="34" charset="0"/>
                <a:ea typeface="Calibri" pitchFamily="34" charset="-122"/>
                <a:cs typeface="Calibri" pitchFamily="34" charset="-120"/>
              </a:rPr>
              <a:t>(</a:t>
            </a:r>
            <a:r>
              <a:rPr lang="en-US" sz="1200" dirty="0" err="1">
                <a:solidFill>
                  <a:srgbClr val="2F3C7E"/>
                </a:solidFill>
                <a:latin typeface="Calibri" pitchFamily="34" charset="0"/>
                <a:ea typeface="Calibri" pitchFamily="34" charset="-122"/>
                <a:cs typeface="Calibri" pitchFamily="34" charset="-120"/>
              </a:rPr>
              <a:t>seluruh</a:t>
            </a:r>
            <a:r>
              <a:rPr lang="en-US" sz="1200" dirty="0">
                <a:solidFill>
                  <a:srgbClr val="2F3C7E"/>
                </a:solidFill>
                <a:latin typeface="Calibri" pitchFamily="34" charset="0"/>
                <a:ea typeface="Calibri" pitchFamily="34" charset="-122"/>
                <a:cs typeface="Calibri" pitchFamily="34" charset="-120"/>
              </a:rPr>
              <a:t> </a:t>
            </a:r>
            <a:r>
              <a:rPr lang="en-US" sz="1200" dirty="0" err="1">
                <a:solidFill>
                  <a:srgbClr val="2F3C7E"/>
                </a:solidFill>
                <a:latin typeface="Calibri" pitchFamily="34" charset="0"/>
                <a:ea typeface="Calibri" pitchFamily="34" charset="-122"/>
                <a:cs typeface="Calibri" pitchFamily="34" charset="-120"/>
              </a:rPr>
              <a:t>kelas</a:t>
            </a:r>
            <a:r>
              <a:rPr lang="en-US" sz="1200" dirty="0">
                <a:solidFill>
                  <a:srgbClr val="2F3C7E"/>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640080"/>
          </a:xfrm>
          <a:prstGeom prst="rect">
            <a:avLst/>
          </a:prstGeom>
          <a:noFill/>
          <a:ln/>
        </p:spPr>
        <p:txBody>
          <a:bodyPr wrap="square" rtlCol="0" anchor="ctr"/>
          <a:lstStyle/>
          <a:p>
            <a:pPr marL="0" indent="0">
              <a:buNone/>
            </a:pPr>
            <a:r>
              <a:rPr lang="en-US" sz="3200" b="1" dirty="0">
                <a:solidFill>
                  <a:srgbClr val="2F3C7E"/>
                </a:solidFill>
                <a:latin typeface="Cambria" pitchFamily="34" charset="0"/>
                <a:ea typeface="Cambria" pitchFamily="34" charset="-122"/>
                <a:cs typeface="Cambria" pitchFamily="34" charset="-120"/>
              </a:rPr>
              <a:t>Demo Prediksi Model</a:t>
            </a:r>
            <a:endParaRPr lang="en-US" sz="3200" dirty="0"/>
          </a:p>
        </p:txBody>
      </p:sp>
      <p:sp>
        <p:nvSpPr>
          <p:cNvPr id="3" name="Shape 1"/>
          <p:cNvSpPr/>
          <p:nvPr/>
        </p:nvSpPr>
        <p:spPr>
          <a:xfrm>
            <a:off x="457200" y="1371600"/>
            <a:ext cx="2468880" cy="2651760"/>
          </a:xfrm>
          <a:prstGeom prst="roundRect">
            <a:avLst>
              <a:gd name="adj" fmla="val 2963"/>
            </a:avLst>
          </a:prstGeom>
          <a:solidFill>
            <a:srgbClr val="EEF1FA"/>
          </a:solidFill>
          <a:ln/>
          <a:effectLst>
            <a:outerShdw blurRad="76200" dist="25400" dir="2700000" algn="bl" rotWithShape="0">
              <a:srgbClr val="000000">
                <a:alpha val="10000"/>
              </a:srgbClr>
            </a:outerShdw>
          </a:effectLst>
        </p:spPr>
      </p:sp>
      <p:sp>
        <p:nvSpPr>
          <p:cNvPr id="4" name="Shape 2"/>
          <p:cNvSpPr/>
          <p:nvPr/>
        </p:nvSpPr>
        <p:spPr>
          <a:xfrm>
            <a:off x="1417320" y="1600200"/>
            <a:ext cx="548640" cy="548640"/>
          </a:xfrm>
          <a:prstGeom prst="ellipse">
            <a:avLst/>
          </a:prstGeom>
          <a:solidFill>
            <a:srgbClr val="2F3C7E"/>
          </a:solidFill>
          <a:ln/>
        </p:spPr>
      </p:sp>
      <p:pic>
        <p:nvPicPr>
          <p:cNvPr id="5" name="Image 0" descr="preencoded.png"/>
          <p:cNvPicPr>
            <a:picLocks noChangeAspect="1"/>
          </p:cNvPicPr>
          <p:nvPr/>
        </p:nvPicPr>
        <p:blipFill>
          <a:blip r:embed="rId3"/>
          <a:stretch>
            <a:fillRect/>
          </a:stretch>
        </p:blipFill>
        <p:spPr>
          <a:xfrm>
            <a:off x="1540764" y="1723644"/>
            <a:ext cx="301752" cy="301752"/>
          </a:xfrm>
          <a:prstGeom prst="rect">
            <a:avLst/>
          </a:prstGeom>
        </p:spPr>
      </p:pic>
      <p:sp>
        <p:nvSpPr>
          <p:cNvPr id="6" name="Text 3"/>
          <p:cNvSpPr/>
          <p:nvPr/>
        </p:nvSpPr>
        <p:spPr>
          <a:xfrm>
            <a:off x="457200" y="2286000"/>
            <a:ext cx="2468880" cy="411480"/>
          </a:xfrm>
          <a:prstGeom prst="rect">
            <a:avLst/>
          </a:prstGeom>
          <a:noFill/>
          <a:ln/>
        </p:spPr>
        <p:txBody>
          <a:bodyPr wrap="square" rtlCol="0" anchor="ctr"/>
          <a:lstStyle/>
          <a:p>
            <a:pPr marL="0" indent="0" algn="ctr">
              <a:buNone/>
            </a:pPr>
            <a:r>
              <a:rPr lang="en-US" sz="1500" b="1" dirty="0">
                <a:solidFill>
                  <a:srgbClr val="2F3C7E"/>
                </a:solidFill>
                <a:latin typeface="Cambria" pitchFamily="34" charset="0"/>
                <a:ea typeface="Cambria" pitchFamily="34" charset="-122"/>
                <a:cs typeface="Cambria" pitchFamily="34" charset="-120"/>
              </a:rPr>
              <a:t>Upload Gambar</a:t>
            </a:r>
            <a:endParaRPr lang="en-US" sz="1500" dirty="0"/>
          </a:p>
        </p:txBody>
      </p:sp>
      <p:sp>
        <p:nvSpPr>
          <p:cNvPr id="7" name="Text 4"/>
          <p:cNvSpPr/>
          <p:nvPr/>
        </p:nvSpPr>
        <p:spPr>
          <a:xfrm>
            <a:off x="594360" y="2743200"/>
            <a:ext cx="2194560" cy="1188720"/>
          </a:xfrm>
          <a:prstGeom prst="rect">
            <a:avLst/>
          </a:prstGeom>
          <a:noFill/>
          <a:ln/>
        </p:spPr>
        <p:txBody>
          <a:bodyPr wrap="square" rtlCol="0" anchor="t"/>
          <a:lstStyle/>
          <a:p>
            <a:pPr marL="0" indent="0" algn="ctr">
              <a:buNone/>
            </a:pPr>
            <a:r>
              <a:rPr lang="en-US" sz="1100" dirty="0">
                <a:solidFill>
                  <a:srgbClr val="1E293B"/>
                </a:solidFill>
                <a:latin typeface="Times New Roman" panose="02020603050405020304" pitchFamily="18" charset="0"/>
                <a:ea typeface="Calibri" pitchFamily="34" charset="-122"/>
                <a:cs typeface="Times New Roman" panose="02020603050405020304" pitchFamily="18" charset="0"/>
              </a:rPr>
              <a:t>Pengguna mengunggah gambar alat tulis baru yang berada di luar dataset training/testing.</a:t>
            </a:r>
            <a:endParaRPr lang="en-US" sz="1100" dirty="0">
              <a:latin typeface="Times New Roman" panose="02020603050405020304" pitchFamily="18" charset="0"/>
              <a:cs typeface="Times New Roman" panose="02020603050405020304" pitchFamily="18" charset="0"/>
            </a:endParaRPr>
          </a:p>
        </p:txBody>
      </p:sp>
      <p:sp>
        <p:nvSpPr>
          <p:cNvPr id="8" name="Text 5"/>
          <p:cNvSpPr/>
          <p:nvPr/>
        </p:nvSpPr>
        <p:spPr>
          <a:xfrm>
            <a:off x="2926080" y="2423160"/>
            <a:ext cx="411480" cy="548640"/>
          </a:xfrm>
          <a:prstGeom prst="rect">
            <a:avLst/>
          </a:prstGeom>
          <a:noFill/>
          <a:ln/>
        </p:spPr>
        <p:txBody>
          <a:bodyPr wrap="square" rtlCol="0" anchor="ctr"/>
          <a:lstStyle/>
          <a:p>
            <a:pPr marL="0" indent="0" algn="ctr">
              <a:buNone/>
            </a:pPr>
            <a:r>
              <a:rPr lang="en-US" sz="2600" b="1" dirty="0">
                <a:solidFill>
                  <a:srgbClr val="F96167"/>
                </a:solidFill>
                <a:latin typeface="Calibri" pitchFamily="34" charset="0"/>
                <a:ea typeface="Calibri" pitchFamily="34" charset="-122"/>
                <a:cs typeface="Calibri" pitchFamily="34" charset="-120"/>
              </a:rPr>
              <a:t>→</a:t>
            </a:r>
            <a:endParaRPr lang="en-US" sz="2600" dirty="0"/>
          </a:p>
        </p:txBody>
      </p:sp>
      <p:sp>
        <p:nvSpPr>
          <p:cNvPr id="9" name="Shape 6"/>
          <p:cNvSpPr/>
          <p:nvPr/>
        </p:nvSpPr>
        <p:spPr>
          <a:xfrm>
            <a:off x="3337560" y="1371600"/>
            <a:ext cx="2468880" cy="2651760"/>
          </a:xfrm>
          <a:prstGeom prst="roundRect">
            <a:avLst>
              <a:gd name="adj" fmla="val 2963"/>
            </a:avLst>
          </a:prstGeom>
          <a:solidFill>
            <a:srgbClr val="EEF1FA"/>
          </a:solidFill>
          <a:ln/>
          <a:effectLst>
            <a:outerShdw blurRad="76200" dist="25400" dir="2700000" algn="bl" rotWithShape="0">
              <a:srgbClr val="000000">
                <a:alpha val="10000"/>
              </a:srgbClr>
            </a:outerShdw>
          </a:effectLst>
        </p:spPr>
      </p:sp>
      <p:sp>
        <p:nvSpPr>
          <p:cNvPr id="10" name="Shape 7"/>
          <p:cNvSpPr/>
          <p:nvPr/>
        </p:nvSpPr>
        <p:spPr>
          <a:xfrm>
            <a:off x="4297680" y="1600200"/>
            <a:ext cx="548640" cy="548640"/>
          </a:xfrm>
          <a:prstGeom prst="ellipse">
            <a:avLst/>
          </a:prstGeom>
          <a:solidFill>
            <a:srgbClr val="2F3C7E"/>
          </a:solidFill>
          <a:ln/>
        </p:spPr>
      </p:sp>
      <p:pic>
        <p:nvPicPr>
          <p:cNvPr id="11" name="Image 1" descr="preencoded.png"/>
          <p:cNvPicPr>
            <a:picLocks noChangeAspect="1"/>
          </p:cNvPicPr>
          <p:nvPr/>
        </p:nvPicPr>
        <p:blipFill>
          <a:blip r:embed="rId4"/>
          <a:stretch>
            <a:fillRect/>
          </a:stretch>
        </p:blipFill>
        <p:spPr>
          <a:xfrm>
            <a:off x="4421124" y="1723644"/>
            <a:ext cx="301752" cy="301752"/>
          </a:xfrm>
          <a:prstGeom prst="rect">
            <a:avLst/>
          </a:prstGeom>
        </p:spPr>
      </p:pic>
      <p:sp>
        <p:nvSpPr>
          <p:cNvPr id="12" name="Text 8"/>
          <p:cNvSpPr/>
          <p:nvPr/>
        </p:nvSpPr>
        <p:spPr>
          <a:xfrm>
            <a:off x="3337560" y="2286000"/>
            <a:ext cx="2468880" cy="411480"/>
          </a:xfrm>
          <a:prstGeom prst="rect">
            <a:avLst/>
          </a:prstGeom>
          <a:noFill/>
          <a:ln/>
        </p:spPr>
        <p:txBody>
          <a:bodyPr wrap="square" rtlCol="0" anchor="ctr"/>
          <a:lstStyle/>
          <a:p>
            <a:pPr marL="0" indent="0" algn="ctr">
              <a:buNone/>
            </a:pPr>
            <a:r>
              <a:rPr lang="en-US" sz="1500" b="1" dirty="0">
                <a:solidFill>
                  <a:srgbClr val="2F3C7E"/>
                </a:solidFill>
                <a:latin typeface="Cambria" pitchFamily="34" charset="0"/>
                <a:ea typeface="Cambria" pitchFamily="34" charset="-122"/>
                <a:cs typeface="Cambria" pitchFamily="34" charset="-120"/>
              </a:rPr>
              <a:t>Proses oleh Model</a:t>
            </a:r>
            <a:endParaRPr lang="en-US" sz="1500" dirty="0"/>
          </a:p>
        </p:txBody>
      </p:sp>
      <p:sp>
        <p:nvSpPr>
          <p:cNvPr id="13" name="Text 9"/>
          <p:cNvSpPr/>
          <p:nvPr/>
        </p:nvSpPr>
        <p:spPr>
          <a:xfrm>
            <a:off x="3474720" y="2743200"/>
            <a:ext cx="2194560" cy="1188720"/>
          </a:xfrm>
          <a:prstGeom prst="rect">
            <a:avLst/>
          </a:prstGeom>
          <a:noFill/>
          <a:ln/>
        </p:spPr>
        <p:txBody>
          <a:bodyPr wrap="square" rtlCol="0" anchor="t"/>
          <a:lstStyle/>
          <a:p>
            <a:pPr marL="0" indent="0" algn="ctr">
              <a:buNone/>
            </a:pPr>
            <a:r>
              <a:rPr lang="en-US" sz="1100" dirty="0">
                <a:solidFill>
                  <a:srgbClr val="1E293B"/>
                </a:solidFill>
                <a:latin typeface="Times New Roman" panose="02020603050405020304" pitchFamily="18" charset="0"/>
                <a:ea typeface="Calibri" pitchFamily="34" charset="-122"/>
                <a:cs typeface="Times New Roman" panose="02020603050405020304" pitchFamily="18" charset="0"/>
              </a:rPr>
              <a:t>Model CNN memproses gambar dan menghitung probabilitas untuk setiap kelas (Buku, Penghapus, Pensil, Pulpen).</a:t>
            </a:r>
            <a:endParaRPr lang="en-US" sz="1100" dirty="0">
              <a:latin typeface="Times New Roman" panose="02020603050405020304" pitchFamily="18" charset="0"/>
              <a:cs typeface="Times New Roman" panose="02020603050405020304" pitchFamily="18" charset="0"/>
            </a:endParaRPr>
          </a:p>
        </p:txBody>
      </p:sp>
      <p:sp>
        <p:nvSpPr>
          <p:cNvPr id="14" name="Text 10"/>
          <p:cNvSpPr/>
          <p:nvPr/>
        </p:nvSpPr>
        <p:spPr>
          <a:xfrm>
            <a:off x="5806440" y="2423160"/>
            <a:ext cx="411480" cy="548640"/>
          </a:xfrm>
          <a:prstGeom prst="rect">
            <a:avLst/>
          </a:prstGeom>
          <a:noFill/>
          <a:ln/>
        </p:spPr>
        <p:txBody>
          <a:bodyPr wrap="square" rtlCol="0" anchor="ctr"/>
          <a:lstStyle/>
          <a:p>
            <a:pPr marL="0" indent="0" algn="ctr">
              <a:buNone/>
            </a:pPr>
            <a:r>
              <a:rPr lang="en-US" sz="2600" b="1" dirty="0">
                <a:solidFill>
                  <a:srgbClr val="F96167"/>
                </a:solidFill>
                <a:latin typeface="Calibri" pitchFamily="34" charset="0"/>
                <a:ea typeface="Calibri" pitchFamily="34" charset="-122"/>
                <a:cs typeface="Calibri" pitchFamily="34" charset="-120"/>
              </a:rPr>
              <a:t>→</a:t>
            </a:r>
            <a:endParaRPr lang="en-US" sz="2600" dirty="0"/>
          </a:p>
        </p:txBody>
      </p:sp>
      <p:sp>
        <p:nvSpPr>
          <p:cNvPr id="15" name="Shape 11"/>
          <p:cNvSpPr/>
          <p:nvPr/>
        </p:nvSpPr>
        <p:spPr>
          <a:xfrm>
            <a:off x="6217920" y="1371600"/>
            <a:ext cx="2468880" cy="2651760"/>
          </a:xfrm>
          <a:prstGeom prst="roundRect">
            <a:avLst>
              <a:gd name="adj" fmla="val 2963"/>
            </a:avLst>
          </a:prstGeom>
          <a:solidFill>
            <a:srgbClr val="EEF1FA"/>
          </a:solidFill>
          <a:ln/>
          <a:effectLst>
            <a:outerShdw blurRad="76200" dist="25400" dir="2700000" algn="bl" rotWithShape="0">
              <a:srgbClr val="000000">
                <a:alpha val="10000"/>
              </a:srgbClr>
            </a:outerShdw>
          </a:effectLst>
        </p:spPr>
      </p:sp>
      <p:sp>
        <p:nvSpPr>
          <p:cNvPr id="16" name="Shape 12"/>
          <p:cNvSpPr/>
          <p:nvPr/>
        </p:nvSpPr>
        <p:spPr>
          <a:xfrm>
            <a:off x="7178040" y="1600200"/>
            <a:ext cx="548640" cy="548640"/>
          </a:xfrm>
          <a:prstGeom prst="ellipse">
            <a:avLst/>
          </a:prstGeom>
          <a:solidFill>
            <a:srgbClr val="2F3C7E"/>
          </a:solidFill>
          <a:ln/>
        </p:spPr>
      </p:sp>
      <p:pic>
        <p:nvPicPr>
          <p:cNvPr id="17" name="Image 2" descr="preencoded.png"/>
          <p:cNvPicPr>
            <a:picLocks noChangeAspect="1"/>
          </p:cNvPicPr>
          <p:nvPr/>
        </p:nvPicPr>
        <p:blipFill>
          <a:blip r:embed="rId5"/>
          <a:stretch>
            <a:fillRect/>
          </a:stretch>
        </p:blipFill>
        <p:spPr>
          <a:xfrm>
            <a:off x="7301484" y="1723644"/>
            <a:ext cx="301752" cy="301752"/>
          </a:xfrm>
          <a:prstGeom prst="rect">
            <a:avLst/>
          </a:prstGeom>
        </p:spPr>
      </p:pic>
      <p:sp>
        <p:nvSpPr>
          <p:cNvPr id="18" name="Text 13"/>
          <p:cNvSpPr/>
          <p:nvPr/>
        </p:nvSpPr>
        <p:spPr>
          <a:xfrm>
            <a:off x="6217920" y="2286000"/>
            <a:ext cx="2468880" cy="411480"/>
          </a:xfrm>
          <a:prstGeom prst="rect">
            <a:avLst/>
          </a:prstGeom>
          <a:noFill/>
          <a:ln/>
        </p:spPr>
        <p:txBody>
          <a:bodyPr wrap="square" rtlCol="0" anchor="ctr"/>
          <a:lstStyle/>
          <a:p>
            <a:pPr marL="0" indent="0" algn="ctr">
              <a:buNone/>
            </a:pPr>
            <a:r>
              <a:rPr lang="en-US" sz="1500" b="1" dirty="0">
                <a:solidFill>
                  <a:srgbClr val="2F3C7E"/>
                </a:solidFill>
                <a:latin typeface="Cambria" pitchFamily="34" charset="0"/>
                <a:ea typeface="Cambria" pitchFamily="34" charset="-122"/>
                <a:cs typeface="Cambria" pitchFamily="34" charset="-120"/>
              </a:rPr>
              <a:t>Hasil Prediksi</a:t>
            </a:r>
            <a:endParaRPr lang="en-US" sz="1500" dirty="0"/>
          </a:p>
        </p:txBody>
      </p:sp>
      <p:sp>
        <p:nvSpPr>
          <p:cNvPr id="19" name="Text 14"/>
          <p:cNvSpPr/>
          <p:nvPr/>
        </p:nvSpPr>
        <p:spPr>
          <a:xfrm>
            <a:off x="6355080" y="2743200"/>
            <a:ext cx="2194560" cy="1188720"/>
          </a:xfrm>
          <a:prstGeom prst="rect">
            <a:avLst/>
          </a:prstGeom>
          <a:noFill/>
          <a:ln/>
        </p:spPr>
        <p:txBody>
          <a:bodyPr wrap="square" rtlCol="0" anchor="t"/>
          <a:lstStyle/>
          <a:p>
            <a:pPr marL="0" indent="0" algn="ctr">
              <a:buNone/>
            </a:pPr>
            <a:r>
              <a:rPr lang="en-US" sz="1100" dirty="0">
                <a:solidFill>
                  <a:srgbClr val="1E293B"/>
                </a:solidFill>
                <a:latin typeface="Times New Roman" panose="02020603050405020304" pitchFamily="18" charset="0"/>
                <a:ea typeface="Calibri" pitchFamily="34" charset="-122"/>
                <a:cs typeface="Times New Roman" panose="02020603050405020304" pitchFamily="18" charset="0"/>
              </a:rPr>
              <a:t>Sistem menampilkan label kelas dengan probabilitas tertinggi beserta tingkat keyakinan (confidence).</a:t>
            </a:r>
            <a:endParaRPr lang="en-US" sz="1100" dirty="0">
              <a:latin typeface="Times New Roman" panose="02020603050405020304" pitchFamily="18" charset="0"/>
              <a:cs typeface="Times New Roman" panose="02020603050405020304" pitchFamily="18" charset="0"/>
            </a:endParaRPr>
          </a:p>
        </p:txBody>
      </p:sp>
      <p:sp>
        <p:nvSpPr>
          <p:cNvPr id="20" name="Shape 15"/>
          <p:cNvSpPr/>
          <p:nvPr/>
        </p:nvSpPr>
        <p:spPr>
          <a:xfrm>
            <a:off x="1645920" y="4297680"/>
            <a:ext cx="5852160" cy="594360"/>
          </a:xfrm>
          <a:prstGeom prst="roundRect">
            <a:avLst>
              <a:gd name="adj" fmla="val 15385"/>
            </a:avLst>
          </a:prstGeom>
          <a:solidFill>
            <a:srgbClr val="2F3C7E"/>
          </a:solidFill>
          <a:ln/>
        </p:spPr>
      </p:sp>
      <p:sp>
        <p:nvSpPr>
          <p:cNvPr id="21" name="Text 16"/>
          <p:cNvSpPr/>
          <p:nvPr/>
        </p:nvSpPr>
        <p:spPr>
          <a:xfrm>
            <a:off x="1645920" y="4297680"/>
            <a:ext cx="5852160" cy="594360"/>
          </a:xfrm>
          <a:prstGeom prst="rect">
            <a:avLst/>
          </a:prstGeom>
          <a:noFill/>
          <a:ln/>
        </p:spPr>
        <p:txBody>
          <a:bodyPr wrap="square" rtlCol="0" anchor="ctr"/>
          <a:lstStyle/>
          <a:p>
            <a:pPr marL="0" indent="0" algn="ctr">
              <a:buNone/>
            </a:pPr>
            <a:r>
              <a:rPr lang="en-US" sz="1500" dirty="0">
                <a:solidFill>
                  <a:srgbClr val="CADCFC"/>
                </a:solidFill>
                <a:latin typeface="Cambria" pitchFamily="34" charset="0"/>
                <a:ea typeface="Cambria" pitchFamily="34" charset="-122"/>
                <a:cs typeface="Cambria" pitchFamily="34" charset="-120"/>
              </a:rPr>
              <a:t>Contoh hasil  -  </a:t>
            </a:r>
            <a:r>
              <a:rPr lang="en-US" sz="1500" b="1" dirty="0">
                <a:solidFill>
                  <a:srgbClr val="F4B942"/>
                </a:solidFill>
                <a:latin typeface="Cambria" pitchFamily="34" charset="0"/>
                <a:ea typeface="Cambria" pitchFamily="34" charset="-122"/>
                <a:cs typeface="Cambria" pitchFamily="34" charset="-120"/>
              </a:rPr>
              <a:t>Prediksi: Pensil   (Keyakinan: 98.7%)</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F3C7E"/>
        </a:solidFill>
        <a:effectLst/>
      </p:bgPr>
    </p:bg>
    <p:spTree>
      <p:nvGrpSpPr>
        <p:cNvPr id="1" name=""/>
        <p:cNvGrpSpPr/>
        <p:nvPr/>
      </p:nvGrpSpPr>
      <p:grpSpPr>
        <a:xfrm>
          <a:off x="0" y="0"/>
          <a:ext cx="0" cy="0"/>
          <a:chOff x="0" y="0"/>
          <a:chExt cx="0" cy="0"/>
        </a:xfrm>
      </p:grpSpPr>
      <p:sp>
        <p:nvSpPr>
          <p:cNvPr id="2" name="Text 0"/>
          <p:cNvSpPr/>
          <p:nvPr/>
        </p:nvSpPr>
        <p:spPr>
          <a:xfrm>
            <a:off x="640080" y="457200"/>
            <a:ext cx="7863840" cy="73152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Kesimpulan</a:t>
            </a:r>
            <a:endParaRPr lang="en-US" sz="3600" dirty="0"/>
          </a:p>
        </p:txBody>
      </p:sp>
      <p:sp>
        <p:nvSpPr>
          <p:cNvPr id="3" name="Text 1"/>
          <p:cNvSpPr/>
          <p:nvPr/>
        </p:nvSpPr>
        <p:spPr>
          <a:xfrm>
            <a:off x="731520" y="1371600"/>
            <a:ext cx="7680960" cy="2377440"/>
          </a:xfrm>
          <a:prstGeom prst="rect">
            <a:avLst/>
          </a:prstGeom>
          <a:noFill/>
          <a:ln/>
        </p:spPr>
        <p:txBody>
          <a:bodyPr wrap="square" rtlCol="0" anchor="t"/>
          <a:lstStyle/>
          <a:p>
            <a:pPr marL="342900" indent="-342900">
              <a:spcAft>
                <a:spcPts val="1000"/>
              </a:spcAft>
              <a:buSzPct val="100000"/>
              <a:buChar char="•"/>
            </a:pPr>
            <a:r>
              <a:rPr lang="en-US" sz="1500" dirty="0">
                <a:solidFill>
                  <a:srgbClr val="FFFFFF"/>
                </a:solidFill>
                <a:latin typeface="Times New Roman" panose="02020603050405020304" pitchFamily="18" charset="0"/>
                <a:ea typeface="Calibri" pitchFamily="34" charset="-122"/>
                <a:cs typeface="Times New Roman" panose="02020603050405020304" pitchFamily="18" charset="0"/>
              </a:rPr>
              <a:t>Model CNN berhasil mengklasifikasikan gambar alat tulis ke dalam 4 kategori (Buku, Penghapus, Pensil, Pulpen) dengan akurasi 100% pada data uji.</a:t>
            </a:r>
            <a:endParaRPr lang="en-US" sz="1500" dirty="0">
              <a:latin typeface="Times New Roman" panose="02020603050405020304" pitchFamily="18" charset="0"/>
              <a:cs typeface="Times New Roman" panose="02020603050405020304" pitchFamily="18" charset="0"/>
            </a:endParaRPr>
          </a:p>
          <a:p>
            <a:pPr marL="342900" indent="-342900">
              <a:spcAft>
                <a:spcPts val="1000"/>
              </a:spcAft>
              <a:buSzPct val="100000"/>
              <a:buChar char="•"/>
            </a:pPr>
            <a:r>
              <a:rPr lang="en-US" sz="1500" dirty="0">
                <a:solidFill>
                  <a:srgbClr val="FFFFFF"/>
                </a:solidFill>
                <a:latin typeface="Times New Roman" panose="02020603050405020304" pitchFamily="18" charset="0"/>
                <a:ea typeface="Calibri" pitchFamily="34" charset="-122"/>
                <a:cs typeface="Times New Roman" panose="02020603050405020304" pitchFamily="18" charset="0"/>
              </a:rPr>
              <a:t>Tahapan preprocessing (resize 224×224 dan normalisasi piksel) membantu model mempelajari pola gambar dengan baik.</a:t>
            </a:r>
            <a:endParaRPr lang="en-US" sz="1500" dirty="0">
              <a:latin typeface="Times New Roman" panose="02020603050405020304" pitchFamily="18" charset="0"/>
              <a:cs typeface="Times New Roman" panose="02020603050405020304" pitchFamily="18" charset="0"/>
            </a:endParaRPr>
          </a:p>
          <a:p>
            <a:pPr marL="342900" indent="-342900">
              <a:spcAft>
                <a:spcPts val="1000"/>
              </a:spcAft>
              <a:buSzPct val="100000"/>
              <a:buChar char="•"/>
            </a:pPr>
            <a:r>
              <a:rPr lang="en-US" sz="1500" dirty="0">
                <a:solidFill>
                  <a:srgbClr val="FFFFFF"/>
                </a:solidFill>
                <a:latin typeface="Times New Roman" panose="02020603050405020304" pitchFamily="18" charset="0"/>
                <a:ea typeface="Calibri" pitchFamily="34" charset="-122"/>
                <a:cs typeface="Times New Roman" panose="02020603050405020304" pitchFamily="18" charset="0"/>
              </a:rPr>
              <a:t>Confusion matrix dan classification report menunjukkan precision, recall, dan F1-score sempurna (1.00) untuk seluruh kelas.</a:t>
            </a:r>
            <a:endParaRPr lang="en-US" sz="1500" dirty="0">
              <a:latin typeface="Times New Roman" panose="02020603050405020304" pitchFamily="18" charset="0"/>
              <a:cs typeface="Times New Roman" panose="02020603050405020304" pitchFamily="18" charset="0"/>
            </a:endParaRPr>
          </a:p>
          <a:p>
            <a:pPr marL="342900" indent="-342900">
              <a:spcAft>
                <a:spcPts val="1000"/>
              </a:spcAft>
              <a:buSzPct val="100000"/>
              <a:buChar char="•"/>
            </a:pPr>
            <a:r>
              <a:rPr lang="en-US" sz="1500" dirty="0">
                <a:solidFill>
                  <a:srgbClr val="FFFFFF"/>
                </a:solidFill>
                <a:latin typeface="Times New Roman" panose="02020603050405020304" pitchFamily="18" charset="0"/>
                <a:ea typeface="Calibri" pitchFamily="34" charset="-122"/>
                <a:cs typeface="Times New Roman" panose="02020603050405020304" pitchFamily="18" charset="0"/>
              </a:rPr>
              <a:t>Pengembangan lanjutan: menambah variasi &amp; jumlah data, augmentasi gambar, serta pengujian pada kondisi pencahayaan dan latar belakang yang lebih beragam.</a:t>
            </a:r>
            <a:endParaRPr lang="en-US" sz="1500" dirty="0">
              <a:latin typeface="Times New Roman" panose="02020603050405020304" pitchFamily="18" charset="0"/>
              <a:cs typeface="Times New Roman" panose="02020603050405020304" pitchFamily="18" charset="0"/>
            </a:endParaRPr>
          </a:p>
        </p:txBody>
      </p:sp>
      <p:sp>
        <p:nvSpPr>
          <p:cNvPr id="4" name="Text 2"/>
          <p:cNvSpPr/>
          <p:nvPr/>
        </p:nvSpPr>
        <p:spPr>
          <a:xfrm>
            <a:off x="640080" y="3977640"/>
            <a:ext cx="7863840" cy="731520"/>
          </a:xfrm>
          <a:prstGeom prst="rect">
            <a:avLst/>
          </a:prstGeom>
          <a:noFill/>
          <a:ln/>
        </p:spPr>
        <p:txBody>
          <a:bodyPr wrap="square" rtlCol="0" anchor="ctr"/>
          <a:lstStyle/>
          <a:p>
            <a:pPr marL="0" indent="0" algn="ctr">
              <a:buNone/>
            </a:pPr>
            <a:r>
              <a:rPr lang="en-US" sz="3200" b="1" dirty="0">
                <a:solidFill>
                  <a:srgbClr val="F4B942"/>
                </a:solidFill>
                <a:latin typeface="Cambria" pitchFamily="34" charset="0"/>
                <a:ea typeface="Cambria" pitchFamily="34" charset="-122"/>
                <a:cs typeface="Cambria" pitchFamily="34" charset="-120"/>
              </a:rPr>
              <a:t>Terima Kasih</a:t>
            </a:r>
            <a:endParaRPr lang="en-US" sz="3200" dirty="0"/>
          </a:p>
        </p:txBody>
      </p:sp>
      <p:sp>
        <p:nvSpPr>
          <p:cNvPr id="5" name="Text 3"/>
          <p:cNvSpPr/>
          <p:nvPr/>
        </p:nvSpPr>
        <p:spPr>
          <a:xfrm>
            <a:off x="640080" y="4617720"/>
            <a:ext cx="7863840" cy="365760"/>
          </a:xfrm>
          <a:prstGeom prst="rect">
            <a:avLst/>
          </a:prstGeom>
          <a:noFill/>
          <a:ln/>
        </p:spPr>
        <p:txBody>
          <a:bodyPr wrap="square"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Zahwa Alya Yamin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598</Words>
  <Application>Microsoft Office PowerPoint</Application>
  <PresentationFormat>On-screen Show (16:9)</PresentationFormat>
  <Paragraphs>133</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Klasifikasi Gambar Alat Tulis Menggunakan CNN</dc:title>
  <dc:subject>PptxGenJS Presentation</dc:subject>
  <dc:creator>Zahwa Alya Yamin</dc:creator>
  <cp:lastModifiedBy>Zahwa Yamin</cp:lastModifiedBy>
  <cp:revision>3</cp:revision>
  <dcterms:created xsi:type="dcterms:W3CDTF">2026-06-15T11:51:55Z</dcterms:created>
  <dcterms:modified xsi:type="dcterms:W3CDTF">2026-06-15T12:07:55Z</dcterms:modified>
</cp:coreProperties>
</file>